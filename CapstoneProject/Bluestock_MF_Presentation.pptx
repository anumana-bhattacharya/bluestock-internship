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3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48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0">
                <a:solidFill>
                  <a:srgbClr val="1B998B"/>
                </a:solidFill>
                <a:latin typeface="Calibri"/>
              </a:rPr>
              <a:t>BLUESTOCK 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607040" cy="1463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Mutual Fund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100584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200" b="0" i="0">
                <a:solidFill>
                  <a:srgbClr val="EEF2F6"/>
                </a:solidFill>
                <a:latin typeface="Calibri"/>
              </a:rPr>
              <a:t>A 7-Day Data Analytics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105156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 dirty="0">
                <a:solidFill>
                  <a:srgbClr val="C9D6E3"/>
                </a:solidFill>
                <a:latin typeface="Calibri"/>
              </a:rPr>
              <a:t>40 schemes · 46,000 daily NAVs · ~32,800 transactions · 2022–2026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35C32-856C-3B85-287A-C3C5AE7DF58F}"/>
              </a:ext>
            </a:extLst>
          </p:cNvPr>
          <p:cNvSpPr txBox="1"/>
          <p:nvPr/>
        </p:nvSpPr>
        <p:spPr>
          <a:xfrm>
            <a:off x="822960" y="6126480"/>
            <a:ext cx="10515600" cy="30777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lang="en-US" sz="1400" dirty="0">
                <a:solidFill>
                  <a:srgbClr val="C9D6E3"/>
                </a:solidFill>
                <a:latin typeface="Calibri"/>
              </a:rPr>
              <a:t>Prepared by Anumana Bhattacharya</a:t>
            </a:r>
            <a:endParaRPr sz="1400" b="0" i="0" dirty="0">
              <a:solidFill>
                <a:srgbClr val="C9D6E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01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Problem &amp;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3474720" cy="32918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474720" cy="1097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926080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Mutual-fund data is fragmented across NAV feeds, AUM reports, transactions and holdings — hard to analyse holistically.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286000"/>
            <a:ext cx="3474720" cy="32918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2286000"/>
            <a:ext cx="3474720" cy="109728"/>
          </a:xfrm>
          <a:prstGeom prst="rect">
            <a:avLst/>
          </a:prstGeom>
          <a:solidFill>
            <a:srgbClr val="2D7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651760"/>
            <a:ext cx="29260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The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926080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Build one reproducible pipeline that ingests, cleans, warehouses and analyses it end-to-end.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474720" cy="32918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3474720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29260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The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2926080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A SQL warehouse, dashboard, performance scorecard and risk analytics — portfolio-grade.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02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Data Sources &amp;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56032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4400" b="1" i="0">
                <a:solidFill>
                  <a:srgbClr val="1B998B"/>
                </a:solidFill>
                <a:latin typeface="Georgia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5603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source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94560"/>
            <a:ext cx="256032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4400" b="1" i="0">
                <a:solidFill>
                  <a:srgbClr val="1B998B"/>
                </a:solidFill>
                <a:latin typeface="Georgia"/>
              </a:rPr>
              <a:t>46,000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108960"/>
            <a:ext cx="25603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daily NAVs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256032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4400" b="1" i="0">
                <a:solidFill>
                  <a:srgbClr val="1B998B"/>
                </a:solidFill>
                <a:latin typeface="Georgia"/>
              </a:rPr>
              <a:t>32,778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108960"/>
            <a:ext cx="25603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94560"/>
            <a:ext cx="256032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4400" b="1" i="0">
                <a:solidFill>
                  <a:srgbClr val="1B998B"/>
                </a:solidFill>
                <a:latin typeface="Georgia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108960"/>
            <a:ext cx="25603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benchmark indices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0972800" cy="23774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Provided: fund master, NAV history, scheme performance, investor transactions, portfolio holdings, AUM by house, SIP inflows, category inflows, folio counts, benchmark indices.</a:t>
            </a:r>
          </a:p>
          <a:p>
            <a:pPr algn="l"/>
            <a:endParaRPr sz="15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Live: daily NAV pulled from the AMFI-backed mfapi.in REST API (GET /mf/&lt;scheme_code&gt;) for six schemes.</a:t>
            </a:r>
          </a:p>
          <a:p>
            <a:pPr algn="l"/>
            <a:endParaRPr sz="15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Coverage: 40 schemes across 10 AMCs, January 2022 – May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03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743200"/>
            <a:ext cx="1481328" cy="128016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389888" cy="8229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108960"/>
            <a:ext cx="2743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0" i="0">
                <a:solidFill>
                  <a:srgbClr val="5C677D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2743200"/>
            <a:ext cx="1481328" cy="1280160"/>
          </a:xfrm>
          <a:prstGeom prst="rect">
            <a:avLst/>
          </a:prstGeom>
          <a:solidFill>
            <a:srgbClr val="2D7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76272" y="3063240"/>
            <a:ext cx="1389888" cy="8229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108960"/>
            <a:ext cx="2743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0" i="0">
                <a:solidFill>
                  <a:srgbClr val="5C677D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58184" y="2743200"/>
            <a:ext cx="1481328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03904" y="3063240"/>
            <a:ext cx="1389888" cy="8229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SQLite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warehouse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3108960"/>
            <a:ext cx="2743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0" i="0">
                <a:solidFill>
                  <a:srgbClr val="5C677D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85816" y="2743200"/>
            <a:ext cx="1481328" cy="128016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31536" y="3063240"/>
            <a:ext cx="1389888" cy="8229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856" y="3108960"/>
            <a:ext cx="2743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0" i="0">
                <a:solidFill>
                  <a:srgbClr val="5C677D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13448" y="2743200"/>
            <a:ext cx="1481328" cy="1280160"/>
          </a:xfrm>
          <a:prstGeom prst="rect">
            <a:avLst/>
          </a:prstGeom>
          <a:solidFill>
            <a:srgbClr val="2D7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9168" y="3063240"/>
            <a:ext cx="1389888" cy="8229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3108960"/>
            <a:ext cx="2743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0" i="0">
                <a:solidFill>
                  <a:srgbClr val="5C677D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2743200"/>
            <a:ext cx="1481328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3063240"/>
            <a:ext cx="1389888" cy="8229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3108960"/>
            <a:ext cx="2743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0" i="0">
                <a:solidFill>
                  <a:srgbClr val="5C677D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68712" y="2743200"/>
            <a:ext cx="1481328" cy="128016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14432" y="3063240"/>
            <a:ext cx="1389888" cy="8229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Advanced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Seven standalone, documented Python scripts orchestrated by run_pipeline.py. Data flows from raw CSVs + live API → cleaned tables → a 10-table SQLite star schema (dim_fund hub + 9 fact tables) → analytics, dashboard and reporting layers.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04 ·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Industry Growth</a:t>
            </a:r>
          </a:p>
        </p:txBody>
      </p:sp>
      <p:pic>
        <p:nvPicPr>
          <p:cNvPr id="6" name="Picture 5" descr="03_aum_growth_by_a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949440" cy="42465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2103120"/>
            <a:ext cx="4023360" cy="43891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AUM by fund house</a:t>
            </a:r>
          </a:p>
          <a:p>
            <a:pPr algn="l"/>
            <a:endParaRPr sz="15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SBI leads at ₹12.5L cr (2025)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All 10 AMCs ~doubled AUM since 2022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Top 3 (SBI, ICICI, HDFC) hold the bulk of assets</a:t>
            </a:r>
          </a:p>
          <a:p>
            <a:pPr algn="l"/>
            <a:endParaRPr sz="15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Industry AUM in the 10-AMC sample grew from ₹30L cr to ₹62.7L cr.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04 ·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SIP &amp; Retail Momentum</a:t>
            </a:r>
          </a:p>
        </p:txBody>
      </p:sp>
      <p:pic>
        <p:nvPicPr>
          <p:cNvPr id="6" name="Picture 5" descr="04_sip_inflow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949440" cy="34413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2103120"/>
            <a:ext cx="4023360" cy="43891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Monthly SIP inflows</a:t>
            </a:r>
          </a:p>
          <a:p>
            <a:pPr algn="l"/>
            <a:endParaRPr sz="15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Record ₹31,002 cr in Dec 2025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~31% average YoY growth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Folios nearly doubled: 13.26 → 26.12 cr</a:t>
            </a:r>
          </a:p>
          <a:p>
            <a:pPr algn="l"/>
            <a:endParaRPr sz="15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Systematic investing is the dominant, structurally growing channel.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05 ·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Fund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 i="1">
                <a:solidFill>
                  <a:srgbClr val="5C677D"/>
                </a:solidFill>
                <a:latin typeface="Calibri"/>
              </a:rPr>
              <a:t>Composite 0–100: 30% 3-yr return · 25% Sharpe · 20% alpha · 15% expense · 10% max-DD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651760"/>
          <a:ext cx="7498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Fund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Mirae Asset Large Cap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Large Cap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85.9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ICICI Pru Midcap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Mid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82.5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Kotak Flexicap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Flexi Cap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81.6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HDFC Mid-Cap Opportunities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Mid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80.4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ICICI Pru Bluechip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Large Cap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79.6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0" y="2651760"/>
            <a:ext cx="3291840" cy="32918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800" b="1" i="0">
                <a:solidFill>
                  <a:srgbClr val="0B2545"/>
                </a:solidFill>
                <a:latin typeface="Calibri"/>
              </a:rPr>
              <a:t>Top performer</a:t>
            </a:r>
          </a:p>
          <a:p>
            <a:pPr algn="ctr"/>
            <a:endParaRPr sz="1800" b="1" i="0">
              <a:solidFill>
                <a:srgbClr val="0B2545"/>
              </a:solidFill>
              <a:latin typeface="Calibri"/>
            </a:endParaRPr>
          </a:p>
          <a:p>
            <a:pPr algn="ctr"/>
            <a:r>
              <a:rPr sz="1800" b="1" i="0">
                <a:solidFill>
                  <a:srgbClr val="0B2545"/>
                </a:solidFill>
                <a:latin typeface="Calibri"/>
              </a:rPr>
              <a:t>Mirae Asset</a:t>
            </a:r>
          </a:p>
          <a:p>
            <a:pPr algn="ctr"/>
            <a:r>
              <a:rPr sz="1800" b="1" i="0">
                <a:solidFill>
                  <a:srgbClr val="0B2545"/>
                </a:solidFill>
                <a:latin typeface="Calibri"/>
              </a:rPr>
              <a:t>Large Cap</a:t>
            </a:r>
          </a:p>
          <a:p>
            <a:pPr algn="ctr"/>
            <a:endParaRPr sz="1800" b="1" i="0">
              <a:solidFill>
                <a:srgbClr val="0B2545"/>
              </a:solidFill>
              <a:latin typeface="Calibri"/>
            </a:endParaRPr>
          </a:p>
          <a:p>
            <a:pPr algn="ctr"/>
            <a:r>
              <a:rPr sz="1800" b="1" i="0">
                <a:solidFill>
                  <a:srgbClr val="0B2545"/>
                </a:solidFill>
                <a:latin typeface="Calibri"/>
              </a:rPr>
              <a:t>85.9 /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651760"/>
            <a:ext cx="109728" cy="32918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05 ·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Returns vs Benchmark</a:t>
            </a:r>
          </a:p>
        </p:txBody>
      </p:sp>
      <p:pic>
        <p:nvPicPr>
          <p:cNvPr id="6" name="Picture 5" descr="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315200" cy="42170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2103120"/>
            <a:ext cx="3749039" cy="43891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Top-5 funds vs NIFTY50/100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(rebased to 100)</a:t>
            </a:r>
          </a:p>
          <a:p>
            <a:pPr algn="l"/>
            <a:endParaRPr sz="14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Mid/large-cap leaders outpace the indices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Metrics: CAGR, Sharpe, Sortino, max-DD</a:t>
            </a:r>
          </a:p>
          <a:p>
            <a:pPr algn="l"/>
            <a:endParaRPr sz="14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Note: synthetic NAVs are independent of the market, so alpha/beta are illustrative (β≈0).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06 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Power BI — Industry &amp; Performance</a:t>
            </a:r>
          </a:p>
        </p:txBody>
      </p:sp>
      <p:pic>
        <p:nvPicPr>
          <p:cNvPr id="6" name="Picture 5" descr="Page1 Industry 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5577840" cy="3206584"/>
          </a:xfrm>
          <a:prstGeom prst="rect">
            <a:avLst/>
          </a:prstGeom>
        </p:spPr>
      </p:pic>
      <p:pic>
        <p:nvPicPr>
          <p:cNvPr id="7" name="Picture 6" descr="Page2 Fund 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577840" cy="32172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0" i="0">
                <a:solidFill>
                  <a:srgbClr val="5C677D"/>
                </a:solidFill>
                <a:latin typeface="Calibri"/>
              </a:rPr>
              <a:t>Page 1 — Industry Overview                                Page 2 — Fund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06 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Power BI — Investors &amp; Trends</a:t>
            </a:r>
          </a:p>
        </p:txBody>
      </p:sp>
      <p:pic>
        <p:nvPicPr>
          <p:cNvPr id="6" name="Picture 5" descr="Page3 Investor 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5577840" cy="3208103"/>
          </a:xfrm>
          <a:prstGeom prst="rect">
            <a:avLst/>
          </a:prstGeom>
        </p:spPr>
      </p:pic>
      <p:pic>
        <p:nvPicPr>
          <p:cNvPr id="7" name="Picture 6" descr="Page4 SIP &amp; Market 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577840" cy="3190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0" i="0">
                <a:solidFill>
                  <a:srgbClr val="5C677D"/>
                </a:solidFill>
                <a:latin typeface="Calibri"/>
              </a:rPr>
              <a:t>Page 3 — Investor Analytics                                Page 4 — SIP &amp; Market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07 ·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36576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402336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SBI dominates AUM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57400"/>
            <a:ext cx="621792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₹12.5L cr at end-2025, ahead of ICICI &amp; HDFC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9232"/>
            <a:ext cx="457200" cy="457200"/>
          </a:xfrm>
          <a:prstGeom prst="rect">
            <a:avLst/>
          </a:prstGeom>
          <a:solidFill>
            <a:srgbClr val="2D7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980944"/>
            <a:ext cx="36576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53512"/>
            <a:ext cx="402336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SIP at record highs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53512"/>
            <a:ext cx="621792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₹31,002 cr/month, ~31% YoY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877056"/>
            <a:ext cx="36576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49624"/>
            <a:ext cx="402336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Small-caps = tail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849624"/>
            <a:ext cx="621792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Daily VaR₉₅ ≈ −2.7%, deepest of all funds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91456"/>
            <a:ext cx="45720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4773168"/>
            <a:ext cx="36576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45736"/>
            <a:ext cx="402336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Sector concentration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745736"/>
            <a:ext cx="621792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Most equity funds exceed HHI 0.18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87568"/>
            <a:ext cx="457200" cy="4572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669280"/>
            <a:ext cx="36576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641848"/>
            <a:ext cx="402336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Young, T30-led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5641848"/>
            <a:ext cx="621792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 i="0">
                <a:solidFill>
                  <a:srgbClr val="5C677D"/>
                </a:solidFill>
                <a:latin typeface="Calibri"/>
              </a:rPr>
              <a:t>26–35 cohort core; T30 drives ~66% of 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1280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49039"/>
            <a:ext cx="100584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000" b="0" i="0">
                <a:solidFill>
                  <a:srgbClr val="EEF2F6"/>
                </a:solidFill>
                <a:latin typeface="Calibri"/>
              </a:rPr>
              <a:t>Bluestock Fintech — Mutual Fund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1051560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>
                <a:solidFill>
                  <a:srgbClr val="C9D6E3"/>
                </a:solidFill>
                <a:latin typeface="Calibri"/>
              </a:rPr>
              <a:t>Deliverables: ETL pipeline · SQLite warehouse · 4-page Power BI dashboard · performance scorecard · advanced risk analytics · final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628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Das Sarkar</cp:lastModifiedBy>
  <cp:revision>2</cp:revision>
  <dcterms:created xsi:type="dcterms:W3CDTF">2013-01-27T09:14:16Z</dcterms:created>
  <dcterms:modified xsi:type="dcterms:W3CDTF">2026-06-10T12:49:24Z</dcterms:modified>
  <cp:category/>
</cp:coreProperties>
</file>