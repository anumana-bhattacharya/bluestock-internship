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57eee75839419c" /><Relationship Type="http://schemas.openxmlformats.org/officeDocument/2006/relationships/extended-properties" Target="/docProps/app.xml" Id="R5aa6a71455714915" /><Relationship Type="http://schemas.openxmlformats.org/officeDocument/2006/relationships/officeDocument" Target="/ppt/presentation.xml" Id="R5b442960c1c14b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c54800a06c47ae"/>
  </p:sldMasterIdLst>
  <p:notesMasterIdLst>
    <p:notesMasterId xmlns:r="http://schemas.openxmlformats.org/officeDocument/2006/relationships" r:id="Ra633f82c3c55420f"/>
  </p:notesMasterIdLst>
  <p:sldIdLst>
    <p:sldId xmlns:r="http://schemas.openxmlformats.org/officeDocument/2006/relationships" id="256" r:id="R4a97d7be4c354344"/>
    <p:sldId xmlns:r="http://schemas.openxmlformats.org/officeDocument/2006/relationships" id="257" r:id="Rf827572df2f04044"/>
    <p:sldId xmlns:r="http://schemas.openxmlformats.org/officeDocument/2006/relationships" id="258" r:id="R5f801ab42362447f"/>
    <p:sldId xmlns:r="http://schemas.openxmlformats.org/officeDocument/2006/relationships" id="259" r:id="Rff996ec2470e4d8c"/>
    <p:sldId xmlns:r="http://schemas.openxmlformats.org/officeDocument/2006/relationships" id="260" r:id="R943c0c8b05744aad"/>
    <p:sldId xmlns:r="http://schemas.openxmlformats.org/officeDocument/2006/relationships" id="261" r:id="R26b67baeb1324b93"/>
    <p:sldId xmlns:r="http://schemas.openxmlformats.org/officeDocument/2006/relationships" id="262" r:id="R1084b245898b4518"/>
    <p:sldId xmlns:r="http://schemas.openxmlformats.org/officeDocument/2006/relationships" id="263" r:id="R4f8ab39b42ae467d"/>
    <p:sldId xmlns:r="http://schemas.openxmlformats.org/officeDocument/2006/relationships" id="264" r:id="R7b4414226f394fc8"/>
    <p:sldId xmlns:r="http://schemas.openxmlformats.org/officeDocument/2006/relationships" id="265" r:id="Rb3247cc29aa5413a"/>
    <p:sldId xmlns:r="http://schemas.openxmlformats.org/officeDocument/2006/relationships" id="266" r:id="R3731d707018241c7"/>
    <p:sldId xmlns:r="http://schemas.openxmlformats.org/officeDocument/2006/relationships" id="267" r:id="R562aecba4dfa44d5"/>
    <p:sldId xmlns:r="http://schemas.openxmlformats.org/officeDocument/2006/relationships" id="268" r:id="R1a2a710abd8342d8"/>
    <p:sldId xmlns:r="http://schemas.openxmlformats.org/officeDocument/2006/relationships" id="269" r:id="R429fb82925704836"/>
    <p:sldId xmlns:r="http://schemas.openxmlformats.org/officeDocument/2006/relationships" id="270" r:id="R98a1123b5ff043ad"/>
    <p:sldId xmlns:r="http://schemas.openxmlformats.org/officeDocument/2006/relationships" id="271" r:id="R4c78d0ca5fe74152"/>
    <p:sldId xmlns:r="http://schemas.openxmlformats.org/officeDocument/2006/relationships" id="272" r:id="R2ce82a03eb1b44d8"/>
    <p:sldId xmlns:r="http://schemas.openxmlformats.org/officeDocument/2006/relationships" id="273" r:id="Rd3c47d8085cf4c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7f676cf4ae4ec6" /><Relationship Type="http://schemas.openxmlformats.org/officeDocument/2006/relationships/slideMaster" Target="/ppt/slideMasters/slideMaster1.xml" Id="Rd8c54800a06c47ae" /><Relationship Type="http://schemas.openxmlformats.org/officeDocument/2006/relationships/notesMaster" Target="/ppt/notesMasters/notesMaster1.xml" Id="Ra633f82c3c55420f" /><Relationship Type="http://schemas.openxmlformats.org/officeDocument/2006/relationships/presProps" Target="/ppt/presProps.xml" Id="Rf18ad3e1dbff41b7" /><Relationship Type="http://schemas.openxmlformats.org/officeDocument/2006/relationships/tableStyles" Target="/ppt/tableStyles.xml" Id="R161a4d0d81d04148" /><Relationship Type="http://schemas.openxmlformats.org/officeDocument/2006/relationships/slide" Target="/ppt/slides/slide1.xml" Id="R4a97d7be4c354344" /><Relationship Type="http://schemas.openxmlformats.org/officeDocument/2006/relationships/slide" Target="/ppt/slides/slide2.xml" Id="Rf827572df2f04044" /><Relationship Type="http://schemas.openxmlformats.org/officeDocument/2006/relationships/slide" Target="/ppt/slides/slide3.xml" Id="R5f801ab42362447f" /><Relationship Type="http://schemas.openxmlformats.org/officeDocument/2006/relationships/slide" Target="/ppt/slides/slide4.xml" Id="Rff996ec2470e4d8c" /><Relationship Type="http://schemas.openxmlformats.org/officeDocument/2006/relationships/slide" Target="/ppt/slides/slide5.xml" Id="R943c0c8b05744aad" /><Relationship Type="http://schemas.openxmlformats.org/officeDocument/2006/relationships/slide" Target="/ppt/slides/slide6.xml" Id="R26b67baeb1324b93" /><Relationship Type="http://schemas.openxmlformats.org/officeDocument/2006/relationships/slide" Target="/ppt/slides/slide7.xml" Id="R1084b245898b4518" /><Relationship Type="http://schemas.openxmlformats.org/officeDocument/2006/relationships/slide" Target="/ppt/slides/slide8.xml" Id="R4f8ab39b42ae467d" /><Relationship Type="http://schemas.openxmlformats.org/officeDocument/2006/relationships/slide" Target="/ppt/slides/slide9.xml" Id="R7b4414226f394fc8" /><Relationship Type="http://schemas.openxmlformats.org/officeDocument/2006/relationships/slide" Target="/ppt/slides/slide10.xml" Id="Rb3247cc29aa5413a" /><Relationship Type="http://schemas.openxmlformats.org/officeDocument/2006/relationships/slide" Target="/ppt/slides/slide11.xml" Id="R3731d707018241c7" /><Relationship Type="http://schemas.openxmlformats.org/officeDocument/2006/relationships/slide" Target="/ppt/slides/slide12.xml" Id="R562aecba4dfa44d5" /><Relationship Type="http://schemas.openxmlformats.org/officeDocument/2006/relationships/slide" Target="/ppt/slides/slide13.xml" Id="R1a2a710abd8342d8" /><Relationship Type="http://schemas.openxmlformats.org/officeDocument/2006/relationships/slide" Target="/ppt/slides/slide14.xml" Id="R429fb82925704836" /><Relationship Type="http://schemas.openxmlformats.org/officeDocument/2006/relationships/slide" Target="/ppt/slides/slide15.xml" Id="R98a1123b5ff043ad" /><Relationship Type="http://schemas.openxmlformats.org/officeDocument/2006/relationships/slide" Target="/ppt/slides/slide16.xml" Id="R4c78d0ca5fe74152" /><Relationship Type="http://schemas.openxmlformats.org/officeDocument/2006/relationships/slide" Target="/ppt/slides/slide17.xml" Id="R2ce82a03eb1b44d8" /><Relationship Type="http://schemas.openxmlformats.org/officeDocument/2006/relationships/slide" Target="/ppt/slides/slide18.xml" Id="Rd3c47d8085cf4c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c613a76bca46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cdcc9fb4c44fca" /><Relationship Type="http://schemas.openxmlformats.org/officeDocument/2006/relationships/notesMaster" Target="/ppt/notesMasters/notesMaster1.xml" Id="Rc342eacba02843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1a852ac4114c7e" /><Relationship Type="http://schemas.openxmlformats.org/officeDocument/2006/relationships/notesMaster" Target="/ppt/notesMasters/notesMaster1.xml" Id="R6d59193d3b0345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69adac51a54e3d" /><Relationship Type="http://schemas.openxmlformats.org/officeDocument/2006/relationships/notesMaster" Target="/ppt/notesMasters/notesMaster1.xml" Id="R44812625577140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e344fa5489433a" /><Relationship Type="http://schemas.openxmlformats.org/officeDocument/2006/relationships/notesMaster" Target="/ppt/notesMasters/notesMaster1.xml" Id="R09ab51cfa71945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97d8ef6a014ab6" /><Relationship Type="http://schemas.openxmlformats.org/officeDocument/2006/relationships/notesMaster" Target="/ppt/notesMasters/notesMaster1.xml" Id="R4c1b9bc706244a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e9c134f8a146cc" /><Relationship Type="http://schemas.openxmlformats.org/officeDocument/2006/relationships/notesMaster" Target="/ppt/notesMasters/notesMaster1.xml" Id="Rfe7ae9231f974f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1027a0c4414249" /><Relationship Type="http://schemas.openxmlformats.org/officeDocument/2006/relationships/notesMaster" Target="/ppt/notesMasters/notesMaster1.xml" Id="Rf529d75ae4fb42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ac56c6fb9546c0" /><Relationship Type="http://schemas.openxmlformats.org/officeDocument/2006/relationships/notesMaster" Target="/ppt/notesMasters/notesMaster1.xml" Id="R43b59ebbcd2b49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3a38dc47e74507" /><Relationship Type="http://schemas.openxmlformats.org/officeDocument/2006/relationships/notesMaster" Target="/ppt/notesMasters/notesMaster1.xml" Id="Rb2cf6c7a15854e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44ef2d2d234842" /><Relationship Type="http://schemas.openxmlformats.org/officeDocument/2006/relationships/notesMaster" Target="/ppt/notesMasters/notesMaster1.xml" Id="Rd5b6b24afbd64d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428be223b64baf" /><Relationship Type="http://schemas.openxmlformats.org/officeDocument/2006/relationships/notesMaster" Target="/ppt/notesMasters/notesMaster1.xml" Id="Rd925c74f05da41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b2fb8bd852447b" /><Relationship Type="http://schemas.openxmlformats.org/officeDocument/2006/relationships/notesMaster" Target="/ppt/notesMasters/notesMaster1.xml" Id="Rfe8fedef008d48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f62e337b0849de" /><Relationship Type="http://schemas.openxmlformats.org/officeDocument/2006/relationships/notesMaster" Target="/ppt/notesMasters/notesMaster1.xml" Id="Rebdcfd3b12fb48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135e96837f4c4b" /><Relationship Type="http://schemas.openxmlformats.org/officeDocument/2006/relationships/notesMaster" Target="/ppt/notesMasters/notesMaster1.xml" Id="R43ad4b0f977f488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2abde2a2c447ab" /><Relationship Type="http://schemas.openxmlformats.org/officeDocument/2006/relationships/notesMaster" Target="/ppt/notesMasters/notesMaster1.xml" Id="R6e14faf5fed54a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16da5bc5e9a4a2c" /><Relationship Type="http://schemas.openxmlformats.org/officeDocument/2006/relationships/notesMaster" Target="/ppt/notesMasters/notesMaster1.xml" Id="R2cb1248aa03f43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b5389158124b74" /><Relationship Type="http://schemas.openxmlformats.org/officeDocument/2006/relationships/notesMaster" Target="/ppt/notesMasters/notesMaster1.xml" Id="R3ba400abbb61406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d53bfdb5616460a" /><Relationship Type="http://schemas.openxmlformats.org/officeDocument/2006/relationships/notesMaster" Target="/ppt/notesMasters/notesMaster1.xml" Id="Rb142e86390164b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59e375774a4c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deb21165274e19" /><Relationship Type="http://schemas.openxmlformats.org/officeDocument/2006/relationships/slideLayout" Target="/ppt/slideLayouts/slideLayout1.xml" Id="Rddfc573de6b748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fc573de6b748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e2fdf7dc44af0" /><Relationship Type="http://schemas.openxmlformats.org/officeDocument/2006/relationships/notesSlide" Target="/ppt/notesSlides/notesSlide1.xml" Id="R53df4ae823c24e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0d49821884b17" /><Relationship Type="http://schemas.openxmlformats.org/officeDocument/2006/relationships/notesSlide" Target="/ppt/notesSlides/notesSlide2.xml" Id="R3dc53a5e824a42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1f5cc29dc483b" /><Relationship Type="http://schemas.openxmlformats.org/officeDocument/2006/relationships/notesSlide" Target="/ppt/notesSlides/notesSlide3.xml" Id="R240412e866e04e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4df418a824c5f" /><Relationship Type="http://schemas.openxmlformats.org/officeDocument/2006/relationships/notesSlide" Target="/ppt/notesSlides/notesSlide4.xml" Id="R1d9dbfa8d2bb4c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616180e6141e0" /><Relationship Type="http://schemas.openxmlformats.org/officeDocument/2006/relationships/notesSlide" Target="/ppt/notesSlides/notesSlide5.xml" Id="Rc916d20fe5a943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87dc952d24338" /><Relationship Type="http://schemas.openxmlformats.org/officeDocument/2006/relationships/notesSlide" Target="/ppt/notesSlides/notesSlide6.xml" Id="R2426b356313040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6a9bab1f047f5" /><Relationship Type="http://schemas.openxmlformats.org/officeDocument/2006/relationships/notesSlide" Target="/ppt/notesSlides/notesSlide7.xml" Id="R6b92e8bc9e584a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584b5d53f4d19" /><Relationship Type="http://schemas.openxmlformats.org/officeDocument/2006/relationships/chart" Target="/ppt/slides/charts/chart1.xml" Id="Rb42a5111a4544175" /><Relationship Type="http://schemas.openxmlformats.org/officeDocument/2006/relationships/notesSlide" Target="/ppt/notesSlides/notesSlide8.xml" Id="Rfca9866b315a44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38cfd589c4caa" /><Relationship Type="http://schemas.openxmlformats.org/officeDocument/2006/relationships/chart" Target="/ppt/slides/charts/chart2.xml" Id="R4d881a528df64ed6" /><Relationship Type="http://schemas.openxmlformats.org/officeDocument/2006/relationships/notesSlide" Target="/ppt/notesSlides/notesSlide9.xml" Id="R1df63b51d4b940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7a80cb98c465d" /><Relationship Type="http://schemas.openxmlformats.org/officeDocument/2006/relationships/notesSlide" Target="/ppt/notesSlides/notesSlide10.xml" Id="R49dd696c21a34e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6b24a65864a53" /><Relationship Type="http://schemas.openxmlformats.org/officeDocument/2006/relationships/notesSlide" Target="/ppt/notesSlides/notesSlide11.xml" Id="Rbfc6750f50114a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e1aaac2f8486b" /><Relationship Type="http://schemas.openxmlformats.org/officeDocument/2006/relationships/image" Target="/ppt/media/image.png" Id="Rf7ecc011d44b40ff" /><Relationship Type="http://schemas.openxmlformats.org/officeDocument/2006/relationships/image" Target="/ppt/media/image2.png" Id="R5e345023a0d341da" /><Relationship Type="http://schemas.openxmlformats.org/officeDocument/2006/relationships/notesSlide" Target="/ppt/notesSlides/notesSlide12.xml" Id="Ra618da3694d04f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c4c7b6128485d" /><Relationship Type="http://schemas.openxmlformats.org/officeDocument/2006/relationships/notesSlide" Target="/ppt/notesSlides/notesSlide13.xml" Id="R013f606396e140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2fe2a47c84a5e" /><Relationship Type="http://schemas.openxmlformats.org/officeDocument/2006/relationships/image" Target="/ppt/media/image3.png" Id="Rcac95a277ac44557" /><Relationship Type="http://schemas.openxmlformats.org/officeDocument/2006/relationships/notesSlide" Target="/ppt/notesSlides/notesSlide14.xml" Id="Rf9e70c901e1440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1e04371624de8" /><Relationship Type="http://schemas.openxmlformats.org/officeDocument/2006/relationships/notesSlide" Target="/ppt/notesSlides/notesSlide15.xml" Id="Rcb5a43f82724424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99a22882246f6" /><Relationship Type="http://schemas.openxmlformats.org/officeDocument/2006/relationships/notesSlide" Target="/ppt/notesSlides/notesSlide16.xml" Id="R56cf9b9360c6485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5c3d3c2bd47c7" /><Relationship Type="http://schemas.openxmlformats.org/officeDocument/2006/relationships/notesSlide" Target="/ppt/notesSlides/notesSlide17.xml" Id="Rb341897df24d4bc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15cb009b84671" /><Relationship Type="http://schemas.openxmlformats.org/officeDocument/2006/relationships/notesSlide" Target="/ppt/notesSlides/notesSlide18.xml" Id="R458ebfe74e12415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Count</c:v>
          </c:tx>
          <c:spPr>
            <a:solidFill xmlns:a="http://schemas.openxmlformats.org/drawingml/2006/main">
              <a:srgbClr val="1D6FA5"/>
            </a:solidFill>
          </c:spPr>
          <c:dPt>
            <c:idx val="0"/>
            <c:spPr>
              <a:solidFill xmlns:a="http://schemas.openxmlformats.org/drawingml/2006/main">
                <a:srgbClr val="B91C1C"/>
              </a:solidFill>
            </c:spPr>
          </c:dPt>
          <c:dPt>
            <c:idx val="1"/>
            <c:spPr>
              <a:solidFill xmlns:a="http://schemas.openxmlformats.org/drawingml/2006/main">
                <a:srgbClr val="E8783E"/>
              </a:solidFill>
            </c:spPr>
          </c:dPt>
          <c:dPt>
            <c:idx val="2"/>
            <c:spPr>
              <a:solidFill xmlns:a="http://schemas.openxmlformats.org/drawingml/2006/main">
                <a:srgbClr val="EFB83D"/>
              </a:solidFill>
            </c:spPr>
          </c:dPt>
          <c:dPt>
            <c:idx val="3"/>
            <c:spPr>
              <a:solidFill xmlns:a="http://schemas.openxmlformats.org/drawingml/2006/main">
                <a:srgbClr val="49A474"/>
              </a:solidFill>
            </c:spPr>
          </c:dPt>
          <c:dPt>
            <c:idx val="4"/>
            <c:spPr>
              <a:solidFill xmlns:a="http://schemas.openxmlformats.org/drawingml/2006/main">
                <a:srgbClr val="15803D"/>
              </a:solidFill>
            </c:spPr>
          </c:dPt>
          <c:cat>
            <c:strLit>
              <c:ptCount val="5"/>
              <c:pt idx="0">
                <c:v>Poor</c:v>
              </c:pt>
              <c:pt idx="1">
                <c:v>Weak</c:v>
              </c:pt>
              <c:pt idx="2">
                <c:v>Average</c:v>
              </c:pt>
              <c:pt idx="3">
                <c:v>Good</c:v>
              </c:pt>
              <c:pt idx="4">
                <c:v>Excellent</c:v>
              </c:pt>
            </c:strLit>
          </c:cat>
          <c:val>
            <c:numLit>
              <c:formatCode>General</c:formatCode>
              <c:ptCount val="5"/>
              <c:pt idx="0">
                <c:v>12</c:v>
              </c:pt>
              <c:pt idx="1">
                <c:v>32</c:v>
              </c:pt>
              <c:pt idx="2">
                <c:v>40</c:v>
              </c:pt>
              <c:pt idx="3">
                <c:v>7</c:v>
              </c:pt>
              <c:pt idx="4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81C2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C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Count</c:v>
          </c:tx>
          <c:spPr>
            <a:solidFill xmlns:a="http://schemas.openxmlformats.org/drawingml/2006/main">
              <a:srgbClr val="1D6FA5"/>
            </a:solidFill>
          </c:spPr>
          <c:dPt>
            <c:idx val="0"/>
            <c:spPr>
              <a:solidFill xmlns:a="http://schemas.openxmlformats.org/drawingml/2006/main">
                <a:srgbClr val="D97706"/>
              </a:solidFill>
            </c:spPr>
          </c:dPt>
          <c:dPt>
            <c:idx val="1"/>
            <c:spPr>
              <a:solidFill xmlns:a="http://schemas.openxmlformats.org/drawingml/2006/main">
                <a:srgbClr val="083A5B"/>
              </a:solidFill>
            </c:spPr>
          </c:dPt>
          <c:dPt>
            <c:idx val="2"/>
            <c:spPr>
              <a:solidFill xmlns:a="http://schemas.openxmlformats.org/drawingml/2006/main">
                <a:srgbClr val="15803D"/>
              </a:solidFill>
            </c:spPr>
          </c:dPt>
          <c:dPt>
            <c:idx val="3"/>
            <c:spPr>
              <a:solidFill xmlns:a="http://schemas.openxmlformats.org/drawingml/2006/main">
                <a:srgbClr val="39A5D8"/>
              </a:solidFill>
            </c:spPr>
          </c:dPt>
          <c:dPt>
            <c:idx val="4"/>
            <c:spPr>
              <a:solidFill xmlns:a="http://schemas.openxmlformats.org/drawingml/2006/main">
                <a:srgbClr val="6D50A1"/>
              </a:solidFill>
            </c:spPr>
          </c:dPt>
          <c:dPt>
            <c:idx val="5"/>
            <c:spPr>
              <a:solidFill xmlns:a="http://schemas.openxmlformats.org/drawingml/2006/main">
                <a:srgbClr val="1D6FA5"/>
              </a:solidFill>
            </c:spPr>
          </c:dPt>
          <c:cat>
            <c:strLit>
              <c:ptCount val="6"/>
              <c:pt idx="0">
                <c:v>Turnaround Watch</c:v>
              </c:pt>
              <c:pt idx="1">
                <c:v>Debt-Free Blue Chip</c:v>
              </c:pt>
              <c:pt idx="2">
                <c:v>Dividend Champion</c:v>
              </c:pt>
              <c:pt idx="3">
                <c:v>Growth Accelerator</c:v>
              </c:pt>
              <c:pt idx="4">
                <c:v>Value Pick</c:v>
              </c:pt>
              <c:pt idx="5">
                <c:v>Quality Compounder</c:v>
              </c:pt>
            </c:strLit>
          </c:cat>
          <c:val>
            <c:numLit>
              <c:formatCode>General</c:formatCode>
              <c:ptCount val="6"/>
              <c:pt idx="0">
                <c:v>5</c:v>
              </c:pt>
              <c:pt idx="1">
                <c:v>23</c:v>
              </c:pt>
              <c:pt idx="2">
                <c:v>29</c:v>
              </c:pt>
              <c:pt idx="3">
                <c:v>54</c:v>
              </c:pt>
              <c:pt idx="4">
                <c:v>1</c:v>
              </c:pt>
              <c:pt idx="5">
                <c:v>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81C2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C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4434AD-342F-4F76-ACAD-CD275057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50A22-A6E9-49DB-BF64-12F76982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3352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A5B"/>
          </a:solidFill>
          <a:ln xmlns:a="http://schemas.openxmlformats.org/drawingml/2006/main" w="0">
            <a:solidFill>
              <a:srgbClr val="083A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84BD5-0418-4187-A44D-EDC01705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5D8"/>
          </a:solidFill>
          <a:ln xmlns:a="http://schemas.openxmlformats.org/drawingml/2006/main" w="0">
            <a:solidFill>
              <a:srgbClr val="39A5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A88E2-DEAF-4408-8451-E29C2AE1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7AB78-AC2E-4D77-AE89-8A197C4E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43000"/>
            <a:ext cx="7810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N100 Financial
Intelligence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E64B3-0382-4269-B8BD-D90BF4E3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723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From 12 raw workbooks to an auditable, production-grade analytical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87285-1B8B-4EB8-8FD0-8A2ECBD4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6762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1C5A1-196E-4055-BE7D-9C64ADBF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2381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83A5B"/>
                </a:solidFill>
                <a:latin typeface="Aptos"/>
                <a:ea typeface="Aptos"/>
                <a:cs typeface="Aptos"/>
              </a:defRPr>
            </a:pPr>
            <a:r>
              <a:t>92 companies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F2B84-53DF-4771-8B85-9894252A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00525"/>
            <a:ext cx="2571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83A5B"/>
                </a:solidFill>
                <a:latin typeface="Aptos"/>
                <a:ea typeface="Aptos"/>
                <a:cs typeface="Aptos"/>
              </a:defRPr>
            </a:pPr>
            <a:r>
              <a:t>30+ computed KPIs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66F8C-00CF-45D0-BD21-5ED36354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00525"/>
            <a:ext cx="1714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83A5B"/>
                </a:solidFill>
                <a:latin typeface="Aptos"/>
                <a:ea typeface="Aptos"/>
                <a:cs typeface="Aptos"/>
              </a:defRPr>
            </a:pPr>
            <a:r>
              <a:t>6 sprints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F7871-64FA-4CC8-8830-7DFF5EA3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Verified build · July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670CE-89E0-4FF9-918F-4B4E5ABC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819150"/>
            <a:ext cx="2381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N100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E6D37-09C0-4FB6-AF2D-B7577767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590675"/>
            <a:ext cx="2381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DDF2FA"/>
                </a:solidFill>
                <a:latin typeface="Aptos"/>
                <a:ea typeface="Aptos"/>
                <a:cs typeface="Aptos"/>
              </a:defRPr>
            </a:pPr>
            <a:r>
              <a:t>FINANCIAL
INTELLIGENCE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27576-2D06-41BA-A406-B75B7091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76800"/>
            <a:ext cx="1524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6000" b="1" i="0">
                <a:solidFill>
                  <a:srgbClr val="39A5D8"/>
                </a:solidFill>
                <a:latin typeface="Aptos Display"/>
                <a:ea typeface="Aptos Display"/>
                <a:cs typeface="Aptos Display"/>
              </a:defRPr>
            </a:pPr>
            <a: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D5FE8-2938-4F13-818B-BBCC18E2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743575"/>
            <a:ext cx="23241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 single source of truth
for analysis, screening,
reporting and serving.</a:t>
            </a:r>
          </a:p>
        </p:txBody>
      </p:sp>
    </p:spTree>
    <p:extLst>
      <p:ext uri="{BB962C8B-B14F-4D97-AF65-F5344CB8AC3E}">
        <p14:creationId xmlns:p14="http://schemas.microsoft.com/office/powerpoint/2010/main" val="14732433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D8F9D8-8D27-4D2D-87BA-2930DA48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C4335-FB44-4CE4-9ADB-3694469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EXECUTIVE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46581-6E0E-4520-A7B1-6C2666CB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3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The platform is built, tested and review-ready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00278-0729-4898-AE43-CCD88D67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0966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Concrete output—not a prototype: data foundation, analytics, reporting, dashboard, API and ML.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17785-C854-40F9-A9B4-CDF83700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92100-CB96-4773-A9E6-602985EA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N100 FINANCIAL INTELLIGENCE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FDEAE-28FB-44DA-AF2C-D1EBCCE8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82F4D-67E7-4AE7-BADF-2ED260FC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25908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F1E85-1480-4141-B7DF-3EBB3E15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1D6F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65F6C-6A8A-4E49-B2AC-F0E01A03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209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7CBBF-21CD-4381-8A2E-4DD8D3D4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2209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companies fully covered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012D5-8638-41EF-A24B-BB5850B0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47850"/>
            <a:ext cx="25908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EDA0A-A823-43DA-928B-5E81D8EB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478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5D8"/>
          </a:solidFill>
          <a:ln xmlns:a="http://schemas.openxmlformats.org/drawingml/2006/main" w="0">
            <a:solidFill>
              <a:srgbClr val="39A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389C0-202F-414E-9FF8-426049A2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57400"/>
            <a:ext cx="2209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1,073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6AB840-5251-4B16-A963-F50627DE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00325"/>
            <a:ext cx="2209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36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computed company-year ratios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4A849-86EE-453C-9CB9-CECE5C66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25908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C1E77-5585-433C-BECF-FDED1317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A1155A-717B-4096-B7F4-7A56E92B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22098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111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C681D-E737-43E3-92E9-40686853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0325"/>
            <a:ext cx="2209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automated tests passing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7256B-AC3A-4E71-861D-08043FED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47850"/>
            <a:ext cx="2667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65727C-2BB2-41E9-97C2-64CCE0AF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478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0A1"/>
          </a:solidFill>
          <a:ln xmlns:a="http://schemas.openxmlformats.org/drawingml/2006/main" w="0">
            <a:solidFill>
              <a:srgbClr val="6D50A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23F440-00CA-4848-993A-366C6866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57400"/>
            <a:ext cx="2286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94.38%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E13BE-DBDF-483F-B07A-B06AFC40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0325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source-code coverage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1BA92E-8A59-4FE0-9421-B949D817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1252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83A5B"/>
          </a:solidFill>
          <a:ln xmlns:a="http://schemas.openxmlformats.org/drawingml/2006/main" w="0">
            <a:solidFill>
              <a:srgbClr val="083A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63F6D6-5904-462A-9E0D-71BD42C6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2286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9A5D8"/>
                </a:solidFill>
                <a:latin typeface="Aptos"/>
                <a:ea typeface="Aptos"/>
                <a:cs typeface="Aptos"/>
              </a:defRPr>
            </a:pPr>
            <a:r>
              <a:t>Approval case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2496EF-89A1-4199-9B3B-D4C96CBA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99536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Messy, inconsistent workbook data now lands in an idempotent SQLite model, becomes independently tested financial intelligence, and is delivered through files, PDFs, Streamlit and FastAPI.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3486AC-8AF3-47F7-822B-29012D38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DF2FA"/>
                </a:solidFill>
                <a:latin typeface="Aptos"/>
                <a:ea typeface="Aptos"/>
                <a:cs typeface="Aptos"/>
              </a:defRPr>
            </a:pPr>
            <a:r>
              <a:t>0 foreign-key violations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5A59E3-43D3-46B4-801A-0DF22AE0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149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DF2FA"/>
                </a:solidFill>
                <a:latin typeface="Aptos"/>
                <a:ea typeface="Aptos"/>
                <a:cs typeface="Aptos"/>
              </a:defRPr>
            </a:pPr>
            <a:r>
              <a:t>0 duplicate primary keys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3CF584-479E-4866-9E73-2228270C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314950"/>
            <a:ext cx="333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DF2FA"/>
                </a:solidFill>
                <a:latin typeface="Aptos"/>
                <a:ea typeface="Aptos"/>
                <a:cs typeface="Aptos"/>
              </a:defRPr>
            </a:pPr>
            <a:r>
              <a:t>Idempotent end-to-end rerun</a:t>
            </a:r>
          </a:p>
        </p:txBody>
      </p:sp>
    </p:spTree>
    <p:extLst>
      <p:ext uri="{BB962C8B-B14F-4D97-AF65-F5344CB8AC3E}">
        <p14:creationId xmlns:p14="http://schemas.microsoft.com/office/powerpoint/2010/main" val="11921669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13E63F-11D5-4F44-A17A-1D5B8516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E210A-1449-4DC7-B961-1A346A5F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PRODUCT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8A566-86E4-421F-B946-62DD4DE0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3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One platform answers four high-value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B2C2C-6CD0-41A7-8423-36AF6AA3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0966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The design joins financial statements, market context and analytical evidence without mixing their semantics.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F6EDF7-1748-4B4C-8F98-8A1C120E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77DD0-FF4B-462C-9D02-70754B8A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N100 FINANCIAL INTELLIGENCE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7430E-9E53-47BE-8029-2861C60E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25F15-6B9C-4409-BEDE-D9B195C6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54864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EB520-50D8-4558-85DF-A990258F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D6FA5"/>
                </a:solidFill>
                <a:latin typeface="Aptos Display"/>
                <a:ea typeface="Aptos Display"/>
                <a:cs typeface="Aptos Display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75126-41CC-4ACA-BA1B-3D2CCFBB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57400"/>
            <a:ext cx="3981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Can we trust the data?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3C6FA-818F-48A9-B938-510C0CBC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14600"/>
            <a:ext cx="39814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Registry-driven ingestion, explicit year/ticker rules, quarantines and complete validation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5AF8D-76E1-4977-83F2-307EF578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54864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C5A02-231D-449E-B7AE-743F6D22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1930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EDF40-D630-4CEB-B692-0E2C9265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57400"/>
            <a:ext cx="3981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Which companies stand out?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377A6-3567-4A09-8494-4C9226B8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14600"/>
            <a:ext cx="39814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30+ ratios, six screeners, health scoring, sector medians and peer percentiles.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4C6B2-5A2E-4031-A98F-DAE3C78F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54864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3EF83-7B7B-49EC-B6DA-6D280C1E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B8EAA-07BB-49E8-81D3-EB96486F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3981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Why does a company stand out?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7AF08-128E-4B1C-9408-2A4EFCBF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81550"/>
            <a:ext cx="39814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Cash-flow intelligence, capital-allocation labels and confidence-scored pros/cons.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53C9B-7592-4A12-BCCD-394B4D32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5486400" cy="186690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F9345-D1BF-4A52-AF60-69AD52C9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86250"/>
            <a:ext cx="66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6D50A1"/>
                </a:solidFill>
                <a:latin typeface="Aptos Display"/>
                <a:ea typeface="Aptos Display"/>
                <a:cs typeface="Aptos Display"/>
              </a:defRPr>
            </a:pPr>
            <a: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B0CF15-D25A-4169-BD25-A1FFCA94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24350"/>
            <a:ext cx="3981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How is intelligence consumed?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839AA5-FA6A-48D0-AB72-B5DBE84C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81550"/>
            <a:ext cx="39814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Excel, two-page PDFs, portfolio reports, a five-screen dashboard and 13 API routes.</a:t>
            </a:r>
          </a:p>
        </p:txBody>
      </p:sp>
    </p:spTree>
    <p:extLst>
      <p:ext uri="{BB962C8B-B14F-4D97-AF65-F5344CB8AC3E}">
        <p14:creationId xmlns:p14="http://schemas.microsoft.com/office/powerpoint/2010/main" val="915945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7D8B73-C45A-4E06-AFB0-0A895CB3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55FC6-B60A-41A5-BB35-F71E4015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DELIVERY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89DEC-BA40-45F5-8E76-0A38EB22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3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Six sprints move from data trust to product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8EE57-0EA9-4515-8ECE-5C49FE2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0966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A 45-day roadmap organized around measurable exit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DC589-2EC2-4417-B1B9-9D164CD6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AC987-57D6-463E-B7B1-6A9D546C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N100 FINANCIAL INTELLIGENCE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0BB84-7CFB-40AF-86D5-ACB7440D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4F2E6-0A30-4D2C-B5D3-3F36F65D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62325"/>
            <a:ext cx="10401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51C57-1362-457F-9A81-EA276428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3A5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2D1CE-B54A-42B5-91A6-B76602FE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628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B971C-A774-412E-8FAD-C32429CB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16954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Foundation &amp; ETL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031BA-31F3-4F25-9367-8AEC8C49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6275"/>
            <a:ext cx="16954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Days 1–7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31A06-E2F3-4C2A-BB5B-1C9C0D6D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48225"/>
            <a:ext cx="1695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12 datasets · SQLite · DQ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D21C3-8B0E-4214-A1A9-747A1A0B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48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3A5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A60BA5-D7EA-4F70-B260-4E6A82CB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81350"/>
            <a:ext cx="628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822E0-631A-4032-858B-1BCE7EFC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57625"/>
            <a:ext cx="16954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Ratio engine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7BAFA-74C4-4208-BD5D-24D85BD2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86275"/>
            <a:ext cx="16954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Days 8–14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296529-26F1-4DD4-A014-AA22DA3C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48225"/>
            <a:ext cx="1695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30+ KPIs · cross-validation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2D4CE6-FA07-4CFF-AE45-2CD3B8BD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3A5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30685-D49A-4633-84C6-19295118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628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34D69A-809F-415D-9D3A-3FA8D3B7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57625"/>
            <a:ext cx="16954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Scores &amp; peers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63991D-67E9-410D-A908-95B4AF31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86275"/>
            <a:ext cx="16954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Days 15–21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E1E4F-BE10-4639-9116-A6897D48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48225"/>
            <a:ext cx="1695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screeners · health · sector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522BA7-571E-4CDB-B74B-4F1A1D2C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3A5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A4344C-1796-4BC7-B7E9-A25080B6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81350"/>
            <a:ext cx="628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F9B7DB-BC95-4768-83A6-31639641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57625"/>
            <a:ext cx="16954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Valuation &amp; UI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4FA6F5-9BF2-419A-B2EF-801021B7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86275"/>
            <a:ext cx="16954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Days 22–28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34E51E-6367-4C02-9E57-ACF0892F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48225"/>
            <a:ext cx="1695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valuation · Streamlit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B4B8D1-8FBB-4727-A51F-F9BF5CB4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48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5D8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963926-139F-45E5-9D58-AAD5323D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81350"/>
            <a:ext cx="628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C5EC9E-3A5F-43BA-BE72-17CCDA03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16954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Intelligence &amp; reports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4CF250-7A65-47BE-ADB4-1653CE88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86275"/>
            <a:ext cx="16954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Days 29–35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BC6B94-0148-48B8-82B8-C3EA08E0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48225"/>
            <a:ext cx="1695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cash flow · NLP · PDFs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5C7DC1-B5C3-4A21-8B43-DE376248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048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3A5B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36D657-B013-48B0-9CA5-EB68F17D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181350"/>
            <a:ext cx="628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097A9B-603F-4555-8E48-74F83B64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57625"/>
            <a:ext cx="16954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API, ML &amp; QA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13927A-AAD5-41E5-BE66-5C9423B9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86275"/>
            <a:ext cx="16954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Days 36–45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52ED2B-2C1A-4E66-AEA2-1D25F117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848225"/>
            <a:ext cx="1695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FastAPI · clusters · tests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9ED9FB-1F14-46A9-BF8A-EE569003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704975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0">
            <a:solidFill>
              <a:srgbClr val="DDF2F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E30997-0279-45A8-ACC5-EA781A5B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771650"/>
            <a:ext cx="2190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83A5B"/>
                </a:solidFill>
                <a:latin typeface="Aptos"/>
                <a:ea typeface="Aptos"/>
                <a:cs typeface="Aptos"/>
              </a:defRPr>
            </a:pPr>
            <a:r>
              <a:t>SPRINT 5 · 70 STORY POINTS</a:t>
            </a:r>
          </a:p>
        </p:txBody>
      </p:sp>
    </p:spTree>
    <p:extLst>
      <p:ext uri="{BB962C8B-B14F-4D97-AF65-F5344CB8AC3E}">
        <p14:creationId xmlns:p14="http://schemas.microsoft.com/office/powerpoint/2010/main" val="11243456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706B06-7A46-492D-97A6-CFD4367E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319F8-E46A-4388-940C-0008065F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B06D0-0D5F-48D9-A3DF-48742BBB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3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A registry-driven pipeline keeps every layer testable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18597-3C61-4135-8AC7-9D65E51A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0966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TableSpec configuration controls loading, normalization, validation, deduplication and persistence.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76449-513E-4478-9461-EF056945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B42A9-ACAD-4635-8386-72B838F4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N100 FINANCIAL INTELLIGENCE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DFDFC-F1C1-4252-9272-0D8033A2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AAC82-968B-4F64-B414-7D9EC1B6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0375"/>
            <a:ext cx="4953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D8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EB13B-2759-491D-AC14-858368B9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4953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43423-5085-4753-97CD-55E998AD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00375"/>
            <a:ext cx="4953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D8E1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3978A-1607-4C8E-9E36-831B770E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00375"/>
            <a:ext cx="4953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D8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95BA96-DD19-4A34-9F32-9C25BC89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00375"/>
            <a:ext cx="4953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D8E1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200EB-7074-4F86-AE48-9B41047D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0325"/>
            <a:ext cx="16954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83096-42FE-46A6-9B8C-1CBCF5C9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7025"/>
            <a:ext cx="1466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12 Excel
sources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B4018-8BD6-4852-B9FF-48E39F26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00325"/>
            <a:ext cx="16954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9525">
            <a:solidFill>
              <a:srgbClr val="39A5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17DBB-9084-4FEA-9E03-8FC1C1C4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67025"/>
            <a:ext cx="1466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TableSpec
registry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3191F-7934-41DE-8253-A8567E22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00325"/>
            <a:ext cx="16954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F3EA31-38F1-467A-9667-7CD578CB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67025"/>
            <a:ext cx="1466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Normalize
+ validate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171EC9-1B0B-49D2-BBAC-C476D680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00325"/>
            <a:ext cx="16954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A17A07-6D75-402F-A0D7-2B2C4B0A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67025"/>
            <a:ext cx="1466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Deduplicate
+ persist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498863-52EE-46EF-8CF2-EF039032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16954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9525">
            <a:solidFill>
              <a:srgbClr val="39A5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2C156-8914-422A-BCA5-40CAAD6A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67025"/>
            <a:ext cx="14668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Analytics
+ intelligence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7BCD89-A1FD-40AC-96FA-B855349C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00325"/>
            <a:ext cx="16573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5EC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5D18CF-6C12-488E-942E-588075A8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67025"/>
            <a:ext cx="1428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Serve
+ 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CD0A29-BFD7-4F81-B61F-C3C44E4E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111252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46580A-FD58-492E-952C-9464D3F7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1D6FA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3C6CE-069A-4027-B5AA-C71A8790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Pure functions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7DE9AE-758D-4E3D-A65E-C0128360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00550"/>
            <a:ext cx="842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normalizers · formulae · scoring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3ED0BD-EFAC-4C0E-BEFF-6D7E831F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48225"/>
            <a:ext cx="111252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97DD80-6E69-4445-A7B9-8291E105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48225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310839-E58A-4758-8BED-AF9B55F8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I/O adapters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AE1BF8-108D-45A5-B54E-77E9DD65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43475"/>
            <a:ext cx="842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Excel · SQLite · CSV/XLSX/PDF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3FBDF2-BD1B-4027-B652-F4D30483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1252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9F178B-8D86-475C-8F3A-3E412CB5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866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0A1"/>
          </a:solidFill>
          <a:ln xmlns:a="http://schemas.openxmlformats.org/drawingml/2006/main" w="0">
            <a:solidFill>
              <a:srgbClr val="6D50A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B89173-8094-4DB4-870D-596E6490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Framework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E54167-CCDC-4457-9CC1-3BBE1197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86400"/>
            <a:ext cx="8429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Streamlit views · FastAPI routes</a:t>
            </a:r>
          </a:p>
        </p:txBody>
      </p:sp>
    </p:spTree>
    <p:extLst>
      <p:ext uri="{BB962C8B-B14F-4D97-AF65-F5344CB8AC3E}">
        <p14:creationId xmlns:p14="http://schemas.microsoft.com/office/powerpoint/2010/main" val="19877707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2712C5-95ED-469F-B3F2-3BF78D8F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AD787-2DF6-4D75-92C4-9864F2F6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SPRINT 1 · DATA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F688A-4647-416D-989C-BC24033A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3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162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The data foundation makes known source defects explicit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F067D-3B0D-4542-B084-D4FBEBB1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0966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Bad rows are explained and quarantined; retained rows preserve warning-level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6E538-A3D9-49CC-B9CF-6087A8B2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18DA4-133C-48B1-85E1-E1401B26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N100 FINANCIAL INTELLIGENCE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7B210-92E5-4D2D-8E71-F0051CAF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A73AA-B855-4506-A758-D703BECA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247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BE734-43CF-4AFE-BB15-FB7017C6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81175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1D6F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D457CA-C9E0-4F7D-9790-356B92D4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2095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12,892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B1A513-3164-4C94-BE40-0D7307F1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source rows 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BBFB7-319A-4854-8B69-3F7D7C6F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81175"/>
            <a:ext cx="247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393C0-3F94-4A69-8D5F-3CFCBDB7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81175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2580A-B69D-4C05-B6EA-29271CC8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90725"/>
            <a:ext cx="2095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12,108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BA0D5-CBCA-4152-A53C-ED31D098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336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rows loaded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B3E94-246D-42D4-89B2-45E5EBD7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81175"/>
            <a:ext cx="247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7CC50-9A8D-4FC0-9F51-82D3C7BD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81175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A0264-925D-4678-933A-CB704DDA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90725"/>
            <a:ext cx="2095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784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B7056-8914-45B5-9BB9-B0A5169C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336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rows rejected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6C19E7-12CC-496D-A963-42A1816D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81175"/>
            <a:ext cx="30670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D3DCAA-F1CA-4DBD-B21B-8209B4C0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81175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0A1"/>
          </a:solidFill>
          <a:ln xmlns:a="http://schemas.openxmlformats.org/drawingml/2006/main" w="0">
            <a:solidFill>
              <a:srgbClr val="6D50A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B2F563-36AB-4039-A303-524F4378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90725"/>
            <a:ext cx="2686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712B05-08EA-4AB5-961D-1F6926A9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33650"/>
            <a:ext cx="2686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post-load FK violations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FF4B20-3EC2-4E35-948F-69F2E4D4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34480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13DF53-0FB6-4B82-82C9-9ABF8B72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1A8E85-5EB1-46EF-9255-87F43185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57600"/>
            <a:ext cx="3086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t>438 orphan rows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DC4F2D-678E-4BFB-AA97-BA74754A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71925"/>
            <a:ext cx="30861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8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Quarantined by default because financial tickers were absent from the companies master.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B08D8C-326E-4414-AE6E-C03E8C9C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8615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F76800-4E21-4BC9-A425-6E9CDED0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861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5F6DA4-2726-4C5A-9031-670E5B2D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57600"/>
            <a:ext cx="2971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t>100 TTM rows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5D797A-85C4-45F8-B7E3-4D112A73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71925"/>
            <a:ext cx="2971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8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Rejected from fiscal-year keyed P&amp;L tables and logged as trailing-twelve-month observations.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58BB90-8DC6-4EA9-B870-346C6D9C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34099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AFD85C-46F2-49E0-89B6-523C423D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1D6FA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C8FF17-BA7D-4177-8D18-19B5BEF4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657600"/>
            <a:ext cx="304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Mixed year formats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3C1CB5-8628-4877-A3AB-70267B6D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71925"/>
            <a:ext cx="3048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8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Parsed into canonical YYYY-MM with flags for partial periods and assumed-March bare years.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9D3945-9913-4FE5-87A8-DDD7759B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11125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3A5B"/>
          </a:solidFill>
          <a:ln xmlns:a="http://schemas.openxmlformats.org/drawingml/2006/main" w="0">
            <a:solidFill>
              <a:srgbClr val="083A5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E41F2B-984D-4AB9-BAD6-BD5E6AFC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81600"/>
            <a:ext cx="17621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9A5D8"/>
                </a:solidFill>
                <a:latin typeface="Aptos"/>
                <a:ea typeface="Aptos"/>
                <a:cs typeface="Aptos"/>
              </a:defRPr>
            </a:pPr>
            <a:r>
              <a:t>Design contract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A2406E-77CE-449E-8617-1B7C819B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24450"/>
            <a:ext cx="857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CRITICAL rejects · WARNING retains + flags · INFO counts only · positivity remains a warning, not a schema invariant</a:t>
            </a:r>
          </a:p>
        </p:txBody>
      </p:sp>
    </p:spTree>
    <p:extLst>
      <p:ext uri="{BB962C8B-B14F-4D97-AF65-F5344CB8AC3E}">
        <p14:creationId xmlns:p14="http://schemas.microsoft.com/office/powerpoint/2010/main" val="13927605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4E4A73-32A6-453D-BA16-31B79093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96897-6773-41A2-8958-4C6D5820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SPRINT 2 · FINANCIAL RATIOS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9F5CF-B1B5-488B-A37B-2AC20E63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3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30+ KPIs computed directly from raw statements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CF36C-D374-490C-8589-7E785945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0966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The supplied ratios workbook is a cross-check reference—not the source of computed KPIs.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245BA-A907-44A0-B7A8-4FF9F9E5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D989F-3F71-4CB8-858C-C9C7F886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N100 FINANCIAL INTELLIGENCE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5B473-D8CB-47BB-B19F-38AEDD56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38154-459A-4AF0-A3E1-7AEEC8CC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53340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083A5B"/>
          </a:solidFill>
          <a:ln xmlns:a="http://schemas.openxmlformats.org/drawingml/2006/main" w="0">
            <a:solidFill>
              <a:srgbClr val="083A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A7AF2-2416-4BA2-BABB-B2D33912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38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774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1,073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C61C2-1AED-441D-B40F-5F4E1195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52725"/>
            <a:ext cx="3810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DF2FA"/>
                </a:solidFill>
                <a:latin typeface="Aptos"/>
                <a:ea typeface="Aptos"/>
                <a:cs typeface="Aptos"/>
              </a:defRPr>
            </a:pPr>
            <a:r>
              <a:t>company-year ratio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F13A-0C18-4ABC-BAB7-2E207D7F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4763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39A5D8"/>
                </a:solidFill>
                <a:latin typeface="Aptos"/>
                <a:ea typeface="Aptos"/>
                <a:cs typeface="Aptos"/>
              </a:defRPr>
            </a:pPr>
            <a:r>
              <a:t>30+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9DFAE-C5BC-484C-A539-4903E37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19475"/>
            <a:ext cx="2905125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profitability · leverage · cash quality · growth · efficiency · 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2AFC0-0022-4B57-AB94-64D75CC0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443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647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74AD2-443F-46D0-968A-25145E11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9A5D8"/>
                </a:solidFill>
                <a:latin typeface="Aptos"/>
                <a:ea typeface="Aptos"/>
                <a:cs typeface="Aptos"/>
              </a:defRPr>
            </a:pPr>
            <a:r>
              <a:t>Cross-check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8170D-EFA2-4660-9330-99ACFE2C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319087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DF2FA"/>
                </a:solidFill>
                <a:latin typeface="Aptos"/>
                <a:ea typeface="Aptos"/>
                <a:cs typeface="Aptos"/>
              </a:defRPr>
            </a:pPr>
            <a:r>
              <a:t>Combined mean absolute divergence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A9496-2CB8-4B8D-932E-A7C700CC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2952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0.002515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05577-5CDE-46C3-B3C9-04D34265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81175"/>
            <a:ext cx="5314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BFF1F-FE0C-4B67-AD0D-6543C793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94310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ROE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E53FA-B43A-439C-B5C4-005CCF47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4310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non-positive equity → None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02B1A-9184-4137-B1A9-1D111D0B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43175"/>
            <a:ext cx="5314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DF0AF-2930-453E-8963-DA1A14BC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0510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ICR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5B0929-C80D-4D05-88CC-BFDFAEB0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0510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zero interest → Debt Free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1FA496-BF0D-4544-A779-5DDAF7D0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5314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3CB381-C785-4E6A-9BC4-437E95EB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46710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P/E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DACC37-B70D-4D7B-8F10-1F1AC4DA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6710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non-positive PAT → None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5FA12-F252-4094-9798-AFE24A50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67175"/>
            <a:ext cx="5314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36FE01-BFAC-407F-ABB6-924B7532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22910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Margins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750A88-9A24-4340-A894-3CECA23B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2910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zero sales → None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B57446-52E3-4BB9-AE64-7C9D31E1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29175"/>
            <a:ext cx="53149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5A1596-C455-4909-9548-62865CCB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991100"/>
            <a:ext cx="1257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CAGR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F6F9BF-4FBA-420F-A921-7B752A14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9110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turnaround / decline / zero-base flags</a:t>
            </a:r>
          </a:p>
        </p:txBody>
      </p:sp>
    </p:spTree>
    <p:extLst>
      <p:ext uri="{BB962C8B-B14F-4D97-AF65-F5344CB8AC3E}">
        <p14:creationId xmlns:p14="http://schemas.microsoft.com/office/powerpoint/2010/main" val="17960444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E1FBBF-6BC1-4D25-B940-0D148ABD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95A75-0605-4D61-BA4D-50459806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SPRINT 3 · HEALTH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EA607-652C-416D-889D-B9B9246D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3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96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Health scoring is robust to outliers and transparent by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9117E-46EB-4D4E-80ED-25F7E54C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0966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Latest-year features are winsorised P10–P90, scaled 0–100 and combined into fixed weighted components.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0C511-06FB-48E5-92BF-A430FCE8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CD9D4-BAA9-48EE-8627-877EEC61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N100 FINANCIAL INTELLIGENCE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55008-483F-40E4-A7BA-CD76D637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EED74-912B-4AA4-B294-868C97E0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3286125" cy="42862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3983D-7DE5-4B83-8CDA-DEC463B5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90725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Score composition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FAB31-4543-4803-8933-1297A494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47950"/>
            <a:ext cx="1809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Profitability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9A115-B09C-41DF-9FD3-DF2FC7A2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43225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solidFill>
              <a:srgbClr val="DDE5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1927F-EE71-44C4-9B77-87923E24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43225"/>
            <a:ext cx="209359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1D6F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B7FA1-125B-467A-A677-AC502777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81275"/>
            <a:ext cx="523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35%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0450AE-8861-4B07-90F3-A806D2C2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09950"/>
            <a:ext cx="1809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Cash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848E4-CCDC-410B-8586-3662EA2A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05225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solidFill>
              <a:srgbClr val="DD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E6C5A-2EB3-4FE4-9250-92C6E65D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05225"/>
            <a:ext cx="179451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EFA35E-740B-4A55-9DB2-D2FAD332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43275"/>
            <a:ext cx="523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t>30%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AD972-9D63-45B8-97C0-280E478B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71950"/>
            <a:ext cx="1809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Growth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6E9825-C889-4230-8F7A-A64BE40F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67225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solidFill>
              <a:srgbClr val="DD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4D426-BF99-4969-B90D-80C9F884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67225"/>
            <a:ext cx="119634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5D8"/>
          </a:solidFill>
          <a:ln xmlns:a="http://schemas.openxmlformats.org/drawingml/2006/main" w="0">
            <a:solidFill>
              <a:srgbClr val="39A5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468F0D-ECCD-48D7-BE69-792CFDE5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523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39A5D8"/>
                </a:solidFill>
                <a:latin typeface="Aptos"/>
                <a:ea typeface="Aptos"/>
                <a:cs typeface="Aptos"/>
              </a:defRPr>
            </a:pPr>
            <a:r>
              <a:t>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9EF3E5-F477-400A-8E84-DE43A625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33950"/>
            <a:ext cx="1809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Leverage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C063A0-C0D3-4B87-B0EE-22C2623F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29225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5EA"/>
          </a:solidFill>
          <a:ln xmlns:a="http://schemas.openxmlformats.org/drawingml/2006/main" w="0">
            <a:solidFill>
              <a:srgbClr val="DD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373712-AF1A-43F9-8FFA-D6022285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29225"/>
            <a:ext cx="89725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0A1"/>
          </a:solidFill>
          <a:ln xmlns:a="http://schemas.openxmlformats.org/drawingml/2006/main" w="0">
            <a:solidFill>
              <a:srgbClr val="6D50A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78A69F-2128-4A7E-B782-EDC424B9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867275"/>
            <a:ext cx="5238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6D50A1"/>
                </a:solidFill>
                <a:latin typeface="Aptos"/>
                <a:ea typeface="Aptos"/>
                <a:cs typeface="Aptos"/>
              </a:defRPr>
            </a:pPr>
            <a:r>
              <a:t>15%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BCEDE8-A6A4-4ACA-8A6E-A105AC02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2667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EC"/>
          </a:solidFill>
          <a:ln xmlns:a="http://schemas.openxmlformats.org/drawingml/2006/main" w="0">
            <a:solidFill>
              <a:srgbClr val="E8F5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21EBD3-DF9C-41E9-86E4-711CE1F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91175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t>ALL 92 COMPANIES SCORED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4143375" y="1819275"/>
          <a:ext xmlns:a="http://schemas.openxmlformats.org/drawingml/2006/main" cx="720090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2a5111a4544175"/>
          </a:graphicData>
        </a:graphic>
      </p:graphicFrame>
    </p:spTree>
    <p:extLst>
      <p:ext uri="{BB962C8B-B14F-4D97-AF65-F5344CB8AC3E}">
        <p14:creationId xmlns:p14="http://schemas.microsoft.com/office/powerpoint/2010/main" val="2121626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1D900-D977-4CC5-8085-6C1A9964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2C7FB-F745-4B8D-917F-6380BFB2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SPRINT 3 · DECISION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C5284-178A-459F-9DE5-35DB32E0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3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Screeners and benchmarks turn ratios into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4B2F1-503A-4B72-9D28-C916862E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0966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Six configurable presets are complemented by real-sector medians and direction-aware peer ranks.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FA4F6-5274-4F98-8325-6575191E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E25BB-1CFE-485E-B513-4B3529D5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N100 FINANCIAL INTELLIGENCE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854DB-2CFB-4582-BB5C-F2A75A22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457200" y="1790700"/>
          <a:ext xmlns:a="http://schemas.openxmlformats.org/drawingml/2006/main" cx="685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881a528df64ed6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963543-1D2C-47E4-9B4B-C490A09A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85950"/>
            <a:ext cx="3905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6CAA0-C44B-4668-B397-25D2DCB5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859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1D6F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0A6C1-DDD3-4563-B98E-C30E045C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57400"/>
            <a:ext cx="3543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10 broad sectors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E42E4-F598-4A56-955D-2152E14F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71725"/>
            <a:ext cx="35433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Derived from the source data. No hard-coded claim of 11 sectors.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D8D4E-A55C-4D64-A759-36FADEED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38500"/>
            <a:ext cx="3905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03492-0D27-4B35-91E1-5226FBBE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385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B5B43-7792-4C39-B8B0-DBDEB2BE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409950"/>
            <a:ext cx="3543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t>11 peer groups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806BD-30D5-4E3C-85D0-5766DBC4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724275"/>
            <a:ext cx="35433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Percentile rank is calculated within peer group for every covered company.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74AD3D-532B-446C-B56E-FE4361D0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91050"/>
            <a:ext cx="3905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BEE0A1-E15F-414C-9D34-3A5E0A90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910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0A1"/>
          </a:solidFill>
          <a:ln xmlns:a="http://schemas.openxmlformats.org/drawingml/2006/main" w="0">
            <a:solidFill>
              <a:srgbClr val="6D50A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DC1FB6-7C69-4973-BB5E-748300A6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762500"/>
            <a:ext cx="3543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D50A1"/>
                </a:solidFill>
                <a:latin typeface="Aptos"/>
                <a:ea typeface="Aptos"/>
                <a:cs typeface="Aptos"/>
              </a:defRPr>
            </a:pPr>
            <a:r>
              <a:t>Correct directionality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83910-866B-473A-9765-3226EAA0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076825"/>
            <a:ext cx="35433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Higher-is-better metrics rank high; debt-to-equity is explicitly inverted.</a:t>
            </a:r>
          </a:p>
        </p:txBody>
      </p:sp>
    </p:spTree>
    <p:extLst>
      <p:ext uri="{BB962C8B-B14F-4D97-AF65-F5344CB8AC3E}">
        <p14:creationId xmlns:p14="http://schemas.microsoft.com/office/powerpoint/2010/main" val="20994583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9CACAF-8818-4738-8410-17C9689D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84CD1-3D5E-4D90-AF32-69F228D8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SPRINT 5 ·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D7B18-A1A7-42AF-80A6-E2AEF273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3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879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Sprint 5 productionises intelligence and reporting in seven days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875FF-AA09-4370-9E1B-6856D512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0966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Days 29–35 · 70 story points · Epics 07, 08 and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9EC67-DF6C-48AB-AFF2-E0F5989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EDC7A-CC6B-40DF-91E2-9C6F27CC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N100 FINANCIAL INTELLIGENCE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1C61D-8C91-4B61-BC41-66189931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32334-5C62-42BF-BA0F-7F48470B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0420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B35A5-52BE-4204-9F27-18154310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0A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D863F-5F7C-4624-AA85-161EF737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86075"/>
            <a:ext cx="552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D898A-3F3B-4AC6-AB93-75B3BCA8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504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Parse analysis 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84DE1-9C87-458A-ABB1-E176BA17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1504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regex · failures · divergence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D6758-3156-4CC4-82CB-92B16434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62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0A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ED1E0-D53C-43F9-A2B9-0725D2F7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86075"/>
            <a:ext cx="552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4A03B-450F-4F11-85F6-69B1AE1A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581400"/>
            <a:ext cx="1504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Generate pros &amp; cons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EF840-9124-40D2-BBFC-794A0E1D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10050"/>
            <a:ext cx="1504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24 rules · confidence &gt;60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D2FCF3-3E94-4CCF-AD8E-E8A1C707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62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48EEA-5929-4BF7-AEDF-7839AB48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86075"/>
            <a:ext cx="552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4E0437-7846-4BC8-A633-5AA7AD0D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1504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Cash-flow intelligence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78165-2378-477D-8ABA-9C9C39B3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10050"/>
            <a:ext cx="1504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CFO quality · CapEx · distress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AB2EC8-3421-41A4-8644-F16400D9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62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9205C1-E933-4110-8406-B5F415C7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86075"/>
            <a:ext cx="552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F40CD9-F76B-4E9A-A651-192BE5EC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81400"/>
            <a:ext cx="1504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Capital allocation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602EBA-C223-4761-B296-4E4596B4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210050"/>
            <a:ext cx="1504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8 patterns · year-over-year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C173A5-A241-4C75-84B6-EA423D5B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6DC537-D642-4B4D-8D00-ECC413F3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86075"/>
            <a:ext cx="552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5CBB3C-9759-4C2D-87AC-7D55CF10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81400"/>
            <a:ext cx="1504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Tearsheet template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B75EA1-55BA-4249-9856-5192954D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0050"/>
            <a:ext cx="1504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2 pages · charts · word wrap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9F8A40-CC68-427B-BE19-CE04B9E1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DDD892-A541-460D-814E-59A524BA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86075"/>
            <a:ext cx="552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4C2537-E5FB-49C0-B5D4-08F68B0D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81400"/>
            <a:ext cx="1504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Batch reporting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54D116-E44F-40DE-8C7B-DEAD1F8A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10050"/>
            <a:ext cx="1504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companies · sectors · visual QA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2A7F1C-A1BB-464B-954F-B314628E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D66AC8-B085-4C26-8558-945815DA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886075"/>
            <a:ext cx="552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025CE7-1113-499C-A9B3-E6EF8107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581400"/>
            <a:ext cx="1504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Portfolio summary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FA2516-CA71-4318-B85C-26B0B720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210050"/>
            <a:ext cx="15049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92 pages · sprint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03D148-2B0A-4D33-8585-D49930C7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111252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83A5B"/>
          </a:solidFill>
          <a:ln xmlns:a="http://schemas.openxmlformats.org/drawingml/2006/main" w="0">
            <a:solidFill>
              <a:srgbClr val="083A5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7504FB-B40E-469C-8F09-353AFC36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95925"/>
            <a:ext cx="190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9A5D8"/>
                </a:solidFill>
                <a:latin typeface="Aptos"/>
                <a:ea typeface="Aptos"/>
                <a:cs typeface="Aptos"/>
              </a:defRPr>
            </a:pPr>
            <a:r>
              <a:t>Definition of done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FBA308-50F4-4D4A-96B6-EA9E3885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48300"/>
            <a:ext cx="838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39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Every company gets evidence-backed narratives and cash-flow classification; every report renders cleanly.</a:t>
            </a:r>
          </a:p>
        </p:txBody>
      </p:sp>
    </p:spTree>
    <p:extLst>
      <p:ext uri="{BB962C8B-B14F-4D97-AF65-F5344CB8AC3E}">
        <p14:creationId xmlns:p14="http://schemas.microsoft.com/office/powerpoint/2010/main" val="10631986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812C3A-C7F0-4544-BB68-27E18792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F52D2-7698-4B27-A90B-11E8C440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SPRINT 5 · ACTUAL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7378D-049D-4AD2-A8EB-1BF99C68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3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Sprint 5 meets the company-level intelligence goal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2FEA5-B4F4-499D-8F2B-B0F3138D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0966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All 92 companies receive cash-flow classifications plus at least one pro and one con.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34048-B4E5-4F80-8B70-10D71F18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18C6F-BA6C-47FA-8A1A-D7D47D16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N100 FINANCIAL INTELLIGENCE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8B8A8-60BA-434A-9CD0-415B710D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B8532-3EF1-43A1-9B60-0E96538B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247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7B384-54D6-4159-A80C-C3007AF7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0A1"/>
          </a:solidFill>
          <a:ln xmlns:a="http://schemas.openxmlformats.org/drawingml/2006/main" w="0">
            <a:solidFill>
              <a:srgbClr val="6D50A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FB9DC-58D3-47F6-B863-A8A87D8F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095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545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21FCA-75B3-4AA3-8D7C-476331B4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generated narratives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00811-477C-4DFB-9A85-45F92389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247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5D986-DAE2-4131-AEA9-06E33BC0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1D6F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0AD84-01AC-425F-8462-C914AC99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62150"/>
            <a:ext cx="2095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390 / 155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3C7B5-8852-4327-9A42-4662B766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05075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pros / cons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AAF63-26C3-4325-8875-787BD9C3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52600"/>
            <a:ext cx="2476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C8812-FE3F-4758-BC1E-2432DB98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526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CEAB8-A67B-4CC9-9D65-303AA3AC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62150"/>
            <a:ext cx="2095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ED725-BAE6-4C49-AE35-ACDC389C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05075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distress alerts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45EF2-415D-43E5-8D07-F895221B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30670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2ECBB-55AA-4188-B827-3B545DC3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8795BE-2534-43FE-8DEC-7D424953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62150"/>
            <a:ext cx="2686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97E4AC-BA4A-46F2-95AE-4D11D7C3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05075"/>
            <a:ext cx="2686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deleveraging flags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2F56A6-770E-49E2-AAC5-D3E25950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4480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0F7BC2-2010-426A-A0E4-5BCB7BA1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0A1"/>
          </a:solidFill>
          <a:ln xmlns:a="http://schemas.openxmlformats.org/drawingml/2006/main" w="0">
            <a:solidFill>
              <a:srgbClr val="6D50A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8EFC21-313B-479E-B545-DBBD62B4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00450"/>
            <a:ext cx="3086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6D50A1"/>
                </a:solidFill>
                <a:latin typeface="Aptos"/>
                <a:ea typeface="Aptos"/>
                <a:cs typeface="Aptos"/>
              </a:defRPr>
            </a:pPr>
            <a:r>
              <a:t>Analysis parser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3F2D1C-14AA-4B0C-9077-328B496F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914775"/>
            <a:ext cx="30861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869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51 structured values parsed · 13 failures logged · 1 divergence flagged for manual review.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14CB19-8B39-4739-A054-FF94E266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29000"/>
            <a:ext cx="3333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EBA926-D2D2-4E95-9EA6-88D41DF0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290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4E0265-69E5-49B0-B465-6A5DB00B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00450"/>
            <a:ext cx="2971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t>Cash quality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FCA991-C895-4FD2-AE0A-7F429EA1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14775"/>
            <a:ext cx="29718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Five-year CFO/PAT classifies High Quality, Moderate or Accrual Risk.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6941F6-E67A-4F51-A3F1-1A38953F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29000"/>
            <a:ext cx="34099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61FBE2-BBEE-476E-ADC1-906C011B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290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1D6FA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261E79-8CBC-4329-8945-BE6B6804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600450"/>
            <a:ext cx="304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Capital allocation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58515E-229E-4070-A022-1FF11EF5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14775"/>
            <a:ext cx="3048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06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Eight CFO/CFI/CFF patterns are assigned; 36 year-over-year pattern changes identified.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094052-3F3F-4434-8809-A84A0869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5850"/>
            <a:ext cx="111252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F5EC"/>
          </a:solidFill>
          <a:ln xmlns:a="http://schemas.openxmlformats.org/drawingml/2006/main" w="9525">
            <a:solidFill>
              <a:srgbClr val="B6DEC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163BA0-18C4-4B72-919A-6E1A749C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81600"/>
            <a:ext cx="2524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t>COVERAGE CHECK PASSED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280A49-3A37-41FE-A54C-81DFB85B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124450"/>
            <a:ext cx="7715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757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92 / 92 companies have ≥1 pro and ≥1 con with confidence scores between 61% and 99%.</a:t>
            </a:r>
          </a:p>
        </p:txBody>
      </p:sp>
    </p:spTree>
    <p:extLst>
      <p:ext uri="{BB962C8B-B14F-4D97-AF65-F5344CB8AC3E}">
        <p14:creationId xmlns:p14="http://schemas.microsoft.com/office/powerpoint/2010/main" val="155256633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C4583E-FA15-4685-B6E3-E925F34F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86A94-AD9A-42AC-83EA-EEAFEDFF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SPRINT 5 · REPORTING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E91DB-FB78-4FE7-8DE7-331C6875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3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Reporting at scale: PDFs, portfolio and Excel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A1FC4-6A08-487F-A5D3-9CD6A7B8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0966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Company, sector, portfolio and Excel outputs are generated from the same tested analytical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484C5-674A-4FFD-AFC7-DB7B9BB5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D48CD-CDF9-46F3-8E6B-B0093AFE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N100 FINANCIAL INTELLIGENCE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B3BDD-F566-42B6-9E8C-EDE730FF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AFFD0-9B24-49AE-8055-54B7B3BD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6553200" cy="4438650"/>
          </a:xfrm>
          <a:prstGeom xmlns:a="http://schemas.openxmlformats.org/drawingml/2006/main" prst="roundRect">
            <a:avLst>
              <a:gd name="adj" fmla="val 3433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259DC-C921-43FB-826F-3F45B123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19275"/>
            <a:ext cx="5905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Actual two-page company tearsheet · TCS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52E38-1334-4F3A-8A14-F1082710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81175"/>
            <a:ext cx="10001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83A5B"/>
                </a:solidFill>
                <a:latin typeface="Aptos Display"/>
                <a:ea typeface="Aptos Display"/>
                <a:cs typeface="Aptos Display"/>
              </a:defRPr>
            </a:pPr>
            <a:r>
              <a:t>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EBEBB-ADB0-40EF-BAD0-CD09140A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876425"/>
            <a:ext cx="2667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two-page tearsheets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B71BD-946C-42DB-A084-B6A89CB8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47925"/>
            <a:ext cx="377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3712B-DC57-4120-9FBF-04C325CF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90825"/>
            <a:ext cx="10001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16B5E-415E-4E88-B412-8CEDFA5A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886075"/>
            <a:ext cx="2667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sector PDFs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95DB83-3067-4623-94F9-CC4EBD37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57575"/>
            <a:ext cx="377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A8462-568F-489F-820D-8511EF0E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00475"/>
            <a:ext cx="10001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83A5B"/>
                </a:solidFill>
                <a:latin typeface="Aptos Display"/>
                <a:ea typeface="Aptos Display"/>
                <a:cs typeface="Aptos Display"/>
              </a:defRPr>
            </a:pPr>
            <a:r>
              <a:t>92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5FC08-F0D8-4BBC-B1A6-44CABB3D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895725"/>
            <a:ext cx="2667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portfolio pages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E5083-4180-4F80-B6BB-3957A543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67225"/>
            <a:ext cx="377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3D56E6-6074-4D82-B010-F4849981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0125"/>
            <a:ext cx="10001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83A5B"/>
                </a:solidFill>
                <a:latin typeface="Aptos Display"/>
                <a:ea typeface="Aptos Display"/>
                <a:cs typeface="Aptos Display"/>
              </a:defRPr>
            </a:pPr>
            <a:r>
              <a:t>23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BB1CCC-104D-47D1-887D-F6A48E88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905375"/>
            <a:ext cx="2667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Excel sheets verified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387CDF-D245-4C5F-B779-4BDBACF1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76875"/>
            <a:ext cx="377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74B44-5939-4E18-BDF7-BE2B550F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53100"/>
            <a:ext cx="37719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0">
            <a:solidFill>
              <a:srgbClr val="FFF3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C96D34-3E4D-464D-B47C-C46467B9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838825"/>
            <a:ext cx="3486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t>Plan said 11 sectors; source data has 10.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cc011d44b40ff"/>
          <a:stretch xmlns:a="http://schemas.openxmlformats.org/drawingml/2006/main"/>
        </p:blipFill>
        <p:spPr>
          <a:xfrm xmlns:a="http://schemas.openxmlformats.org/drawingml/2006/main">
            <a:off x="827219" y="2143125"/>
            <a:ext cx="2612761" cy="369570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45023a0d341da"/>
          <a:stretch xmlns:a="http://schemas.openxmlformats.org/drawingml/2006/main"/>
        </p:blipFill>
        <p:spPr>
          <a:xfrm xmlns:a="http://schemas.openxmlformats.org/drawingml/2006/main">
            <a:off x="3913319" y="2143125"/>
            <a:ext cx="2612761" cy="3695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6565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AC3057-79DD-4AE0-9D98-AE746E27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9CC3C-65C4-45DA-BA67-1747C374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SPRINT 4 + 6 · SERVING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231F7B-5286-4E85-88ED-0E078713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3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577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Interactive and programmatic access share one query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058E3-7D35-4883-ABEC-C9CB7196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0966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Framework wrappers stay thin; business logic remains independently unit-testable.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73526-DE5A-4E27-9061-BDF147F6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E11EB-A822-4E08-95E0-F1E07245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N100 FINANCIAL INTELLIGENCE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4DD21-8ACB-471E-BF55-4F49D804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B283D-9FB8-47CB-B8D3-20712074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85925"/>
            <a:ext cx="53340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8E72C-B587-4435-900C-77517499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STREAMLIT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35BCF-251F-4675-9A01-826FCF2D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2667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5 screens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23B46-56A5-4560-8A01-19B579F5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57525"/>
            <a:ext cx="47815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9F6251-9AA7-4FE6-B352-9AB8C284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3746C-5331-4716-9062-71B7AF17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33725"/>
            <a:ext cx="3857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Overview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74C08-1F91-4D8B-B6F2-136CFE9C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47815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315B5-0D2B-46E5-B07B-DD590851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34557-9B33-46FA-BE02-0B6B297D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48075"/>
            <a:ext cx="3857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Company 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FF2F8-9310-453F-9C29-ED9A748E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47815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5A50A-488E-461D-8632-7F4FFEEF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CFE97-87F2-40CF-B34E-55F67536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3857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Screener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760A22-57DC-46E0-A46E-C5B4426F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47815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2C5B9A-0F0C-4296-AB48-0EFCF29C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406BF-C2D9-412F-BA20-6C0BA017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76775"/>
            <a:ext cx="3857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Sector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337B57-54E2-4196-87E0-CDA72CB0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4925"/>
            <a:ext cx="47815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E61256-2067-4D86-B974-2E5A8C5E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B4EEE-07F6-42DD-8D73-1C92E744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91125"/>
            <a:ext cx="3857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Peer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B94226-22D5-444A-956B-27E5D8BF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85925"/>
            <a:ext cx="5486400" cy="43434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83A5B"/>
          </a:solidFill>
          <a:ln xmlns:a="http://schemas.openxmlformats.org/drawingml/2006/main" w="0">
            <a:solidFill>
              <a:srgbClr val="083A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A5EFFC-8BCE-4B3F-89A7-BB0B5412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4310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9A5D8"/>
                </a:solidFill>
                <a:latin typeface="Aptos"/>
                <a:ea typeface="Aptos"/>
                <a:cs typeface="Aptos"/>
              </a:defRPr>
            </a:pPr>
            <a:r>
              <a:t>FASTAPI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7B716C-4CEA-4602-A6B4-3FF6E65A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76475"/>
            <a:ext cx="29527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13 routes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343502-0463-4D15-89E3-677E4876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76575"/>
            <a:ext cx="44767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DF2FA"/>
                </a:solidFill>
                <a:latin typeface="Aptos"/>
                <a:ea typeface="Aptos"/>
                <a:cs typeface="Aptos"/>
              </a:defRPr>
            </a:pPr>
            <a:r>
              <a:t>/health
/companies/{ticker}
/pl · /bs · /cashflow · /ratios
/documents · /screener
/sectors · /peers/{group}
/portfolio/stats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E2D5AA-CECF-4AAB-B022-62C7D3D5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81625"/>
            <a:ext cx="4476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D6B"/>
          </a:solidFill>
          <a:ln xmlns:a="http://schemas.openxmlformats.org/drawingml/2006/main" w="0">
            <a:solidFill>
              <a:srgbClr val="164D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D6AA11-7777-4BC4-80E4-42E2585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448300"/>
            <a:ext cx="428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AUTO OPENAPI DOCUMENTATION AT /DOCS</a:t>
            </a:r>
          </a:p>
        </p:txBody>
      </p:sp>
    </p:spTree>
    <p:extLst>
      <p:ext uri="{BB962C8B-B14F-4D97-AF65-F5344CB8AC3E}">
        <p14:creationId xmlns:p14="http://schemas.microsoft.com/office/powerpoint/2010/main" val="153764642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A6EAE8-289F-4526-BC79-4E7D6EE6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6B04A-574F-4ACA-B9A3-F1A02198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SPRINT 6 · 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40970-82C6-4F1F-90FE-381E9DAC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3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166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Clustering adds a portfolio-level view of financial archetypes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DBBF7-90C3-4D12-8116-ACA92F86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0966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Five latest-year features are winsorised, standardised and grouped with KMeans.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07E80-75E9-41F9-BD9D-683CB068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F7C89-C1AE-4D3A-BA0E-1FBB7E34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N100 FINANCIAL INTELLIGENCE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F681A-CA51-404D-B20F-DA73DBC7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024CB-379B-4221-905B-723A9EE8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5953125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79611-93B0-47F2-8970-D9695060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85950"/>
            <a:ext cx="2476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Feature correlation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3ED75-2636-40AF-9FCA-2116358B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743075"/>
            <a:ext cx="4333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0">
            <a:solidFill>
              <a:srgbClr val="DDF2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04208-4940-400B-9EFD-1481BF11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809750"/>
            <a:ext cx="4143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83A5B"/>
                </a:solidFill>
                <a:latin typeface="Aptos"/>
                <a:ea typeface="Aptos"/>
                <a:cs typeface="Aptos"/>
              </a:defRPr>
            </a:pPr>
            <a:r>
              <a:t>ROE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98F0D-C9CA-449E-BFBD-93CC4FB3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81225"/>
            <a:ext cx="4333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A87AF-32BE-4B9A-B26A-8E5E228F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247900"/>
            <a:ext cx="4143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83A5B"/>
                </a:solidFill>
                <a:latin typeface="Aptos"/>
                <a:ea typeface="Aptos"/>
                <a:cs typeface="Aptos"/>
              </a:defRPr>
            </a:pPr>
            <a:r>
              <a:t>D/E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E3EA1-E110-4816-924F-216E09A9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619375"/>
            <a:ext cx="4333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0">
            <a:solidFill>
              <a:srgbClr val="DDF2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6E876-920C-4B43-BF60-FE38B4A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686050"/>
            <a:ext cx="4143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83A5B"/>
                </a:solidFill>
                <a:latin typeface="Aptos"/>
                <a:ea typeface="Aptos"/>
                <a:cs typeface="Aptos"/>
              </a:defRPr>
            </a:pPr>
            <a:r>
              <a:t>Revenue CAGR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ECA46-33D5-428C-BA6C-E6339468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057525"/>
            <a:ext cx="4333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A1B552-13BE-4C7D-B671-2E32C8BC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124200"/>
            <a:ext cx="4143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83A5B"/>
                </a:solidFill>
                <a:latin typeface="Aptos"/>
                <a:ea typeface="Aptos"/>
                <a:cs typeface="Aptos"/>
              </a:defRPr>
            </a:pPr>
            <a:r>
              <a:t>OPM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64D40-1ED3-45CB-9D06-C3580D3A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495675"/>
            <a:ext cx="43338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2FA"/>
          </a:solidFill>
          <a:ln xmlns:a="http://schemas.openxmlformats.org/drawingml/2006/main" w="0">
            <a:solidFill>
              <a:srgbClr val="DDF2F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40E57E-2F80-4F02-8E14-B77CBC82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562350"/>
            <a:ext cx="4143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83A5B"/>
                </a:solidFill>
                <a:latin typeface="Aptos"/>
                <a:ea typeface="Aptos"/>
                <a:cs typeface="Aptos"/>
              </a:defRPr>
            </a:pPr>
            <a:r>
              <a:t>FCF conversion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BBDD7E-9217-4714-BE10-205F3593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105275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Cluster assignment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422CA-3B62-4DAB-AD45-9E24ED02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514850"/>
            <a:ext cx="333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C0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614844-4BD2-458E-8F79-2DAF0527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533900"/>
            <a:ext cx="2628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A5"/>
          </a:solidFill>
          <a:ln xmlns:a="http://schemas.openxmlformats.org/drawingml/2006/main" w="0">
            <a:solidFill>
              <a:srgbClr val="1D6F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84FC21-76F6-470E-9ABD-67A70452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505325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23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54D6FA-CFB7-446A-B8B6-4CFDBE4F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810125"/>
            <a:ext cx="333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C1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2E3B3B-E928-41E3-96BD-AFF64E22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829175"/>
            <a:ext cx="2743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5D8"/>
          </a:solidFill>
          <a:ln xmlns:a="http://schemas.openxmlformats.org/drawingml/2006/main" w="0">
            <a:solidFill>
              <a:srgbClr val="39A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7ADBE9-6373-42E0-B013-6BF4DED9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006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7D92A-567D-45D9-AB37-D1401049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105400"/>
            <a:ext cx="333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C2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77A24C-620B-4ED9-92FF-3A51D28F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124450"/>
            <a:ext cx="1943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9751D9-4A57-4E7E-96ED-365ED626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095875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8A79EE-F5A1-4DE8-A6FD-E837F447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400675"/>
            <a:ext cx="333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C3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187213-AAB4-4FA1-B1EF-60488906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419725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ADF625-9932-4B59-9658-3CB57400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39115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EED150-8564-4403-897B-623B828C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695950"/>
            <a:ext cx="333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C4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B6239B-387D-47C6-A060-C52B9D46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715000"/>
            <a:ext cx="1828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0A1"/>
          </a:solidFill>
          <a:ln xmlns:a="http://schemas.openxmlformats.org/drawingml/2006/main" w="0">
            <a:solidFill>
              <a:srgbClr val="6D50A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19A026-FB06-4222-A2F9-0FEAE21F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686425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16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95a277ac44557"/>
          <a:stretch xmlns:a="http://schemas.openxmlformats.org/drawingml/2006/main"/>
        </p:blipFill>
        <p:spPr>
          <a:xfrm xmlns:a="http://schemas.openxmlformats.org/drawingml/2006/main">
            <a:off x="1096963" y="2181225"/>
            <a:ext cx="4673600" cy="3505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1420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3EF4AD-29FF-4E21-978E-0E82DA0C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7566B-C1D9-4BE1-A7AC-823EB743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QA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95E31-4D33-4BE3-B9C6-A417DA8B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3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Verification evidence supports production handoff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D985A-B162-46E9-9CBF-1169E990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0966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The exit gates cover data integrity, analytical correctness, artifact rendering and code quality.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53245-3635-4749-801D-433EE61E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5285D-4C88-4946-895D-E0DC674C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N100 FINANCIAL INTELLIGENCE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0B59B-AA37-4BF3-BF57-87D0BF49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FEFF2-FC93-45F6-A500-5F6A5342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47662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EF8A0-1105-4241-9918-77BEB764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19300"/>
            <a:ext cx="2095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t>111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685F1-C690-49F1-8CA1-671201F6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28900"/>
            <a:ext cx="2952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tests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34065-5ADF-46EE-803B-435DA295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622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ETL · analytics · API · 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A9BDB-C732-4166-961F-CD7E9FB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09750"/>
            <a:ext cx="347662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77E4B-D358-48E4-8401-E128B3A0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19300"/>
            <a:ext cx="2095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D6FA5"/>
                </a:solidFill>
                <a:latin typeface="Aptos Display"/>
                <a:ea typeface="Aptos Display"/>
                <a:cs typeface="Aptos Display"/>
              </a:defRPr>
            </a:pPr>
            <a:r>
              <a:t>94.38%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0B99B-585E-4A9B-998A-02AB5BA3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28900"/>
            <a:ext cx="2952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coverage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8D9CD-97A6-465A-967A-D7886644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622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above the 80%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982B1-C915-41B0-B659-501FE61E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347662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50C4F-2456-4E66-8583-197E9E1B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019300"/>
            <a:ext cx="2095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6D50A1"/>
                </a:solidFill>
                <a:latin typeface="Aptos Display"/>
                <a:ea typeface="Aptos Display"/>
                <a:cs typeface="Aptos Display"/>
              </a:defRPr>
            </a:pPr>
            <a: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DCF6F-F8E8-453A-9184-1CC4F0C7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628900"/>
            <a:ext cx="2952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FK violations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ED26F-5E8D-4404-8C64-5D8DE756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9622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PRAGMA foreign_key_check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DE9FD-CE92-47DB-A0ED-13D0BAF7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347662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2364B-94D0-4A6E-A8F6-078D8E11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00500"/>
            <a:ext cx="2095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t>155 KB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E67EB-645B-4D3B-9CF1-40989F2E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10100"/>
            <a:ext cx="2952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minimum PDF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E1BDC-3243-460B-ACC0-70691BE3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above the 30 KB Sprint 5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1579ED-246B-49B2-8B9F-4501FA23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790950"/>
            <a:ext cx="347662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25B71B-00F4-4013-BEEF-40B8A55F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00500"/>
            <a:ext cx="2095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E5D5F2-2F21-433C-BF79-3C6D45CB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2952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blank pages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D8F093-B4DD-4BC0-A77B-D0AB68C5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434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all reports rendered and inspected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87BCD3-D640-4B26-879A-DEF3F7EC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90950"/>
            <a:ext cx="3476625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B84FA4-BB57-44D9-973D-0244B1A6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00500"/>
            <a:ext cx="2095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D6FA5"/>
                </a:solidFill>
                <a:latin typeface="Aptos Display"/>
                <a:ea typeface="Aptos Display"/>
                <a:cs typeface="Aptos Display"/>
              </a:defRPr>
            </a:pPr>
            <a: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D8E60C-1ADB-43CC-9EFE-ADB36BF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610100"/>
            <a:ext cx="2952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text overflow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AABE8E-32BE-4955-9FEA-676438F9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9434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five-company visual review + batch QA</a:t>
            </a:r>
          </a:p>
        </p:txBody>
      </p:sp>
    </p:spTree>
    <p:extLst>
      <p:ext uri="{BB962C8B-B14F-4D97-AF65-F5344CB8AC3E}">
        <p14:creationId xmlns:p14="http://schemas.microsoft.com/office/powerpoint/2010/main" val="137083723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5D98F3-41FC-4E08-869D-6789FA2B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C7897-2559-48A5-8142-138E9137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RISKS +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68C53-82D3-4896-BF58-37839452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3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603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Data realities are treated as design inputs—not surprises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BF567-F7C8-40FF-8319-26002F8B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0966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Transparent assumptions protect analytical meaning and prevent false completeness.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AA8E3-285E-43E6-9C98-51DFCCFD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A91D5-1CFF-4282-891D-A600F19B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N100 FINANCIAL INTELLIGENCE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6202B-5C1B-4656-878E-D040BEAD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9D3AF-1C11-41A5-A4F4-09158BCA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24025"/>
            <a:ext cx="2686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A5B"/>
          </a:solidFill>
          <a:ln xmlns:a="http://schemas.openxmlformats.org/drawingml/2006/main" w="0">
            <a:solidFill>
              <a:srgbClr val="083A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951B68-7280-4CF1-9533-0F553060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381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C8479-0E30-477A-94F7-DA5F6192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24025"/>
            <a:ext cx="428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A5B"/>
          </a:solidFill>
          <a:ln xmlns:a="http://schemas.openxmlformats.org/drawingml/2006/main" w="0">
            <a:solidFill>
              <a:srgbClr val="083A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BB7A7-E59A-4D09-AF20-30E64DE2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66900"/>
            <a:ext cx="39814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Platform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028B0-E887-46C6-A6DB-B2F04B18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24025"/>
            <a:ext cx="4152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A5B"/>
          </a:solidFill>
          <a:ln xmlns:a="http://schemas.openxmlformats.org/drawingml/2006/main" w="0">
            <a:solidFill>
              <a:srgbClr val="083A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620DC-68F8-4F89-B540-54E069BD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66900"/>
            <a:ext cx="38481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Why it matters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04271-BC90-4BA8-B2F3-07EF32F6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2686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5C96D-34DC-41B7-8121-BB808EBC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38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10 sectors, not 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B0D78D-5E50-476B-B385-6776BE02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4286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3C07F-F241-459B-93F9-D442E544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81250"/>
            <a:ext cx="39814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Generate 10 source-derived sector PDFs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75EED-8011-4484-B7AD-794781D8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38375"/>
            <a:ext cx="4152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EACC5-9160-4430-9DB2-16C62D3B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81250"/>
            <a:ext cx="3848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Avoid inventing an empty sector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83B002-2302-4D0D-9BB2-F7DF5CB2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2686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E30AF-0757-4A1E-833D-2307C095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238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Simulated market multiples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E4FD76-B86B-4D81-81FE-AD610E12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4286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157C98-5546-43ED-90BF-B672FD56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114675"/>
            <a:ext cx="39814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Keep valuation separate from raw-derived ratios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D30AB8-F5F8-4E84-BFE6-1CE22784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4152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605376-03E4-4DF5-A697-2BD2A5BD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14675"/>
            <a:ext cx="3848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Preserve lineage and semantics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1EB047-94E7-4F04-BDE0-6FE2B814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2686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46405-D79A-49C4-8A9E-458645B2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38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Orphan tickers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A464E4-E5E4-409E-BBC3-FB5DC982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05225"/>
            <a:ext cx="4286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8C0398-CB5B-4BA7-8C61-D8B42C5C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48100"/>
            <a:ext cx="39814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Quarantine by default; policy is configurable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F51F49-F90F-48F1-A477-173BE0B1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05225"/>
            <a:ext cx="4152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E96365-56CA-49D1-A62E-AAB2DA71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48100"/>
            <a:ext cx="3848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Protect referential integrity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CBAE89-8958-47D1-A542-F574E8F3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2686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644D8C-5F79-4DD9-872F-3D327C95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238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Extreme COVID-era ROE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EFF3E6-BC3C-4514-88A4-824C455C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38650"/>
            <a:ext cx="4286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386C5D-1252-489C-A1CE-E527C252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81525"/>
            <a:ext cx="39814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Winsorise before scores and clusters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E3DB14-6361-4143-9E8C-4C3EF075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38650"/>
            <a:ext cx="4152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DDE083-253F-4EAF-AE27-E2362590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81525"/>
            <a:ext cx="3848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Reduce tiny-equity distortion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720C24-BA39-4D1B-ACF4-C12618D1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26860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82832B-801F-4652-B7C6-10F7B9A6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238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Limited history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D47B2A-152F-4925-8727-5614E6D6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72075"/>
            <a:ext cx="4286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057231-9803-436A-9C7D-668BBA43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14950"/>
            <a:ext cx="39814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Flag coverage; do not fabricate trends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07790E-E3E1-4C3B-B696-4BD619AF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72075"/>
            <a:ext cx="4152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8FAEEE-7E90-42F6-A934-52EDF4B3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314950"/>
            <a:ext cx="3848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Keep comparisons honest</a:t>
            </a:r>
          </a:p>
        </p:txBody>
      </p:sp>
    </p:spTree>
    <p:extLst>
      <p:ext uri="{BB962C8B-B14F-4D97-AF65-F5344CB8AC3E}">
        <p14:creationId xmlns:p14="http://schemas.microsoft.com/office/powerpoint/2010/main" val="136600008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6022C2-B3C0-4E6E-BBCD-6381F22F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EFD07-B5ED-4EA5-8B4E-810E8C2E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DEMO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20DA5-EE1F-4529-A348-CC71E9BC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3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81C2C"/>
                </a:solidFill>
                <a:latin typeface="Aptos Display"/>
                <a:ea typeface="Aptos Display"/>
                <a:cs typeface="Aptos Display"/>
              </a:defRPr>
            </a:pPr>
            <a:r>
              <a:t>The demo follows the same path as a production user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659A1-A559-4F8B-A4A8-B0BDBC81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096625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A short, evidence-led walkthrough proves reproducibility, usefulness and delivery quality.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86DD4-6B29-4136-A49D-C1D0D5C6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034D8-6CB7-4E36-8F4C-7FFB0E3D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N100 FINANCIAL INTELLIGENCE 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9F492-7A6C-41BC-B205-48B25536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1D6FA5"/>
                </a:solidFill>
                <a:latin typeface="Aptos"/>
                <a:ea typeface="Aptos"/>
                <a:cs typeface="Aptos"/>
              </a:defRPr>
            </a:pPr>
            <a: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4964C-87ED-4C9A-84CB-74793A42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90875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D8E1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B5890-CF28-4B5C-8F83-4D17F1AD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90875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42994-80E6-40B4-BC36-CE7E584A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90875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D8E1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95594-DB7E-41AF-AB65-341B7855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solidFill>
              <a:srgbClr val="D8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264B5-09E0-477D-B384-B778DA98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0275"/>
            <a:ext cx="1809750" cy="26860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EB43D-4D42-4CA8-8723-E76CBC76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685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D6FA5"/>
                </a:solidFill>
                <a:latin typeface="Aptos Display"/>
                <a:ea typeface="Aptos Display"/>
                <a:cs typeface="Aptos Display"/>
              </a:defRPr>
            </a:pPr>
            <a: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DC19D-CD7A-4F50-A2D0-568965AE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352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Reproduce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9587E4-C30C-41D5-B103-5D217834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3525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make all
make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B32F0-BC31-477A-9085-5AE5F1A2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00275"/>
            <a:ext cx="1809750" cy="26860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30DA4-6DCC-4FDF-A80B-502451C3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28875"/>
            <a:ext cx="685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39A5D8"/>
                </a:solidFill>
                <a:latin typeface="Aptos Display"/>
                <a:ea typeface="Aptos Display"/>
                <a:cs typeface="Aptos Display"/>
              </a:defRPr>
            </a:pPr>
            <a: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7A95D-F4B4-4D66-A247-CC003512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352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Explore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A038A-406B-42D0-8414-E172C27B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67125"/>
            <a:ext cx="13525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Streamlit
5 screens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E44B1-72EB-486E-94C4-8A628787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0275"/>
            <a:ext cx="1809750" cy="26860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002DF-B9B5-4757-BCFA-6DD8EB0B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28875"/>
            <a:ext cx="685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5803D"/>
                </a:solidFill>
                <a:latin typeface="Aptos Display"/>
                <a:ea typeface="Aptos Display"/>
                <a:cs typeface="Aptos Display"/>
              </a:defRPr>
            </a:pPr>
            <a: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AECDB-1EC6-4D2C-9AB5-CBF3D06C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05150"/>
            <a:ext cx="1352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Inspect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3F3A40-8D83-40CE-80EC-1CF658FD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67125"/>
            <a:ext cx="13525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TCS tearsheet
Excel exports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9885E4-D878-4266-8BE4-7BDE844C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00275"/>
            <a:ext cx="1809750" cy="26860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28A0AB-4292-426E-A893-0230C4FA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685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6D50A1"/>
                </a:solidFill>
                <a:latin typeface="Aptos Display"/>
                <a:ea typeface="Aptos Display"/>
                <a:cs typeface="Aptos Display"/>
              </a:defRPr>
            </a:pPr>
            <a: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F98675-3D30-46AC-ACBD-148ED2E1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05150"/>
            <a:ext cx="1352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Query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63410F-CA49-4742-8395-AAD7604F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67125"/>
            <a:ext cx="13525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FastAPI /docs
13 routes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773862-7D23-4B7C-96D5-E5C09393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0275"/>
            <a:ext cx="1809750" cy="26860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CC9F91-1643-4385-A2B9-8956F4EC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28875"/>
            <a:ext cx="685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086FC2-9935-4388-803F-F794795B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05150"/>
            <a:ext cx="1352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81C2C"/>
                </a:solidFill>
                <a:latin typeface="Aptos"/>
                <a:ea typeface="Aptos"/>
                <a:cs typeface="Aptos"/>
              </a:defRPr>
            </a:pPr>
            <a:r>
              <a:t>Decide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22E9D6-BD3D-45DE-BCBC-C41574B7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67125"/>
            <a:ext cx="13525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B78"/>
                </a:solidFill>
                <a:latin typeface="Aptos"/>
                <a:ea typeface="Aptos"/>
                <a:cs typeface="Aptos"/>
              </a:defRPr>
            </a:pPr>
            <a:r>
              <a:t>screeners · scores
clusters · alerts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C598A6-5104-492E-9FFF-B10A5FC0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5425"/>
            <a:ext cx="1057275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083A5B"/>
          </a:solidFill>
          <a:ln xmlns:a="http://schemas.openxmlformats.org/drawingml/2006/main" w="0">
            <a:solidFill>
              <a:srgbClr val="083A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BA5C60-3E79-424E-A51F-99744D00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0488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Fresh setup: python -m venv .venv  →  pip install -r requirements.txt  →  make all  →  make test</a:t>
            </a:r>
          </a:p>
        </p:txBody>
      </p:sp>
    </p:spTree>
    <p:extLst>
      <p:ext uri="{BB962C8B-B14F-4D97-AF65-F5344CB8AC3E}">
        <p14:creationId xmlns:p14="http://schemas.microsoft.com/office/powerpoint/2010/main" val="185729082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13B6E-3424-4237-B20C-05D4843D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A5B"/>
          </a:solidFill>
          <a:ln xmlns:a="http://schemas.openxmlformats.org/drawingml/2006/main" w="0">
            <a:solidFill>
              <a:srgbClr val="083A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24085-42F1-4DBA-A17A-EB896D3B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A5D8"/>
          </a:solidFill>
          <a:ln xmlns:a="http://schemas.openxmlformats.org/drawingml/2006/main" w="0">
            <a:solidFill>
              <a:srgbClr val="39A5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CDD47-BD8F-4412-980E-07195B42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3619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9A5D8"/>
                </a:solidFill>
                <a:latin typeface="Aptos"/>
                <a:ea typeface="Aptos"/>
                <a:cs typeface="Aptos"/>
              </a:defRPr>
            </a:pPr>
            <a:r>
              <a:t>PRODUCTION HANDOFF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9D64A-E3FB-47F4-A442-B7A4F263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7810500" cy="2047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The platform is ready
for technical review
and operational 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278BB-AFBB-45AC-A8F4-C6DC7692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0"/>
            <a:ext cx="919162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DF2FA"/>
                </a:solidFill>
                <a:latin typeface="Aptos"/>
                <a:ea typeface="Aptos"/>
                <a:cs typeface="Aptos"/>
              </a:defRPr>
            </a:pPr>
            <a:r>
              <a:t>Auditable data · tested analytics · complete Sprint 5 intelligence · multi-channel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1217A-8028-4A7D-B99C-10483C62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723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647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C2E14-208D-4325-8539-E7895342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57775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92 companies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B0CDE-99F2-407B-9A49-54748F7A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57775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111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7531B-201C-47A1-BDAD-2B502757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57775"/>
            <a:ext cx="2286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 FK violations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9DC27-C25E-4ECE-9E4F-CF2F1DE4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8572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5D8"/>
          </a:solidFill>
          <a:ln xmlns:a="http://schemas.openxmlformats.org/drawingml/2006/main" w="0">
            <a:solidFill>
              <a:srgbClr val="39A5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DD79B-8B23-4C84-AAEB-627C9D46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9725"/>
            <a:ext cx="1809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083A5B"/>
                </a:solidFill>
                <a:latin typeface="Aptos Display"/>
                <a:ea typeface="Aptos Display"/>
                <a:cs typeface="Aptos Display"/>
              </a:defRPr>
            </a:pPr>
            <a:r>
              <a:t>N100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6ABC6-2B32-454F-AC41-4B3296F8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24100"/>
            <a:ext cx="1771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83A5B"/>
                </a:solidFill>
                <a:latin typeface="Aptos"/>
                <a:ea typeface="Aptos"/>
                <a:cs typeface="Aptos"/>
              </a:defRPr>
            </a:pPr>
            <a:r>
              <a:t>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95525-978E-4814-9A7A-49A9F34D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086225"/>
            <a:ext cx="22669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9A5D8"/>
                </a:solidFill>
                <a:latin typeface="Aptos"/>
                <a:ea typeface="Aptos"/>
                <a:cs typeface="Aptos"/>
              </a:defRPr>
            </a:pPr>
            <a:r>
              <a:t>Decision requested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62D1C-1DE8-490D-A493-6BC09471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457700"/>
            <a:ext cx="2476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Approve
production 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B1A73-85CC-40F7-9477-93F9A8EF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476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DDF2FA"/>
                </a:solidFill>
                <a:latin typeface="Aptos"/>
                <a:ea typeface="Aptos"/>
                <a:cs typeface="Aptos"/>
              </a:defRPr>
            </a:pPr>
            <a:r>
              <a:t>N100 FINANCIAL INTELLIGENCE 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9A22B8-DDB4-4CC3-983F-5531B469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00800"/>
            <a:ext cx="47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DDF2FA"/>
                </a:solidFill>
                <a:latin typeface="Aptos"/>
                <a:ea typeface="Aptos"/>
                <a:cs typeface="Aptos"/>
              </a:defRPr>
            </a:pPr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29469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2026-07-28T04:19:51.5490000Z</dcterms:created>
  <dcterms:modified xsi:type="dcterms:W3CDTF">2026-07-28T04:19:51.5490000Z</dcterms:modified>
</coreProperties>
</file>